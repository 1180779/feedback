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master"/>
  </p:sldMasterIdLst>
  <p:notesMasterIdLst>
    <p:notesMasterId r:id="notesMaster"/>
  </p:notesMasterIdLst>
  <p:sldIdLst>
    <p:sldId id="257" r:id="slide1"/>
    <p:sldId id="258" r:id="slide2"/>
    <p:sldId id="259" r:id="slide3"/>
    <p:sldId id="260" r:id="slide4"/>
    <p:sldId id="261" r:id="slide5"/>
    <p:sldId id="262" r:id="slide6"/>
    <p:sldId id="263" r:id="slide7"/>
    <p:sldId id="264" r:id="slide8"/>
    <p:sldId id="265" r:id="slide9"/>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master" Type="http://schemas.openxmlformats.org/officeDocument/2006/relationships/slideMaster" Target="slideMasters/slideMaster1.xml"/><Relationship Id="notesMaster" Type="http://schemas.openxmlformats.org/officeDocument/2006/relationships/notesMaster" Target="notesMasters/notesMaster1.xml"/><Relationship Id="slide1" Type="http://schemas.openxmlformats.org/officeDocument/2006/relationships/slide" Target="slides/slide1.xml"/><Relationship Id="slide2" Type="http://schemas.openxmlformats.org/officeDocument/2006/relationships/slide" Target="slides/slide2.xml"/><Relationship Id="slide3" Type="http://schemas.openxmlformats.org/officeDocument/2006/relationships/slide" Target="slides/slide3.xml"/><Relationship Id="slide4" Type="http://schemas.openxmlformats.org/officeDocument/2006/relationships/slide" Target="slides/slide4.xml"/><Relationship Id="slide5" Type="http://schemas.openxmlformats.org/officeDocument/2006/relationships/slide" Target="slides/slide5.xml"/><Relationship Id="slide6" Type="http://schemas.openxmlformats.org/officeDocument/2006/relationships/slide" Target="slides/slide6.xml"/><Relationship Id="slide7" Type="http://schemas.openxmlformats.org/officeDocument/2006/relationships/slide" Target="slides/slide7.xml"/><Relationship Id="slide8" Type="http://schemas.openxmlformats.org/officeDocument/2006/relationships/slide" Target="slides/slide8.xml"/><Relationship 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theme" Type="http://schemas.openxmlformats.org/officeDocument/2006/relationships/theme" Target="../theme/theme1.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[0:00–0:30] Feedback opiera się na prostym pomyśle: siła przeciwnika może stać się naszym następnym ruchem. Parowanie pozwala odbijać pociski, pokonywać przeszkody i rozwiązywać zagadki. Przedstawiamy koncepcję gry na podstawie dokumentów projektu.</a:t>
            </a:r>
          </a:p>
          <a:p>
            <a:r>
              <a:rPr lang="pl-PL"/>
              <a:t>Ilustracja jest schematem koncepcyjnym przygotowanym do prezentacji, a nie zrzutem gry. Hasło jest propozycją redakcyjną.</a:t>
            </a:r>
          </a:p>
          <a:p>
            <a:r>
              <a:rPr lang="pl-PL"/>
              <a:t>Źródło: feedback/deadline_3/specyfikacja/specyfikacja.tex, Wprowadzenie i Opis gry.</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[0:30–1:10] Jedna mechanika ma trzy zastosowania. Możemy oddać przeciwnikowi jego pocisk, przejąć pęd ataku fizycznego i użyć odbitego pocisku do uruchomienia elementu otoczenia. Przeciwnik jest zarówno zagrożeniem, jak i częścią rozwiązania. To opis projektowanej mechaniki, nie deklaracja ukończonej implementacji.</a:t>
            </a:r>
          </a:p>
          <a:p>
            <a:r>
              <a:rPr lang="pl-PL"/>
              <a:t>Źródło: specyfikacja.tex, trzy filary; req.tex, WF-03–WF-05 i WF-13.</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[1:10–1:55] Oto schemat jednej interakcji, a nie gotowy projekt poziomu. Po lewej przeciwnik wysyła pocisk w stronę gracza. W środku gracz paruje i odwraca jego kierunek. Po prawej odbity pocisk trafia przełącznik, który otwiera drzwi. Przełącznik reaguje na pocisk po odbiciu. Pozostaje przejść dalej. Ten przykład pokazuje połączenie obserwacji, timingu i zagadki.</a:t>
            </a:r>
          </a:p>
          <a:p>
            <a:r>
              <a:rPr lang="pl-PL"/>
              <a:t>Schemat nie ustala finalnego układu poziomów ani oprawy. Źródło: req.tex, WF-04 i WF-13.</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[1:55–2:30] Drugie zastosowanie parowania to ruch. Udane sparowanie ataku fizycznego może nadać postaci pęd i pozwolić dotrzeć na wyższą lub dalszą platformę. Gracz musi więc zaplanować nie tylko moment parowania, lecz także to, gdzie chce się znaleźć po nim.</a:t>
            </a:r>
          </a:p>
          <a:p>
            <a:r>
              <a:rPr lang="pl-PL"/>
              <a:t>Strzałki ilustrują ideę transferu pędu; nie przedstawiają pomiaru trajektorii ani ustalonego modelu fizyki. Źródło: req.tex, WF-05; specyfikacja.tex, Manipulacja fizyką i momentum.</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[2:30–3:05] Chcemy, żeby każdy poziom zaczynał się od zrozumienia sytuacji, a kończył płynnym wykonaniem. Pomyłka prowadzi do szybkiej kolejnej próby. Postęp wynika z poznania zasad, rozpoznawania ataków i doskonalenia własnego timingu. Nie pokazujemy tu obiecanego czasu przejścia ani wyników playtestów.</a:t>
            </a:r>
          </a:p>
          <a:p>
            <a:r>
              <a:rPr lang="pl-PL"/>
              <a:t>Źródło: specyfikacja.tex, Gameplay loop i Progression loop; req.tex, WF-11.</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[3:05–3:40] Projekt kierujemy do osób, które lubią wyzwania zręcznościowe i jednocześnie szukają logicznej satysfakcji ze zrozumienia poziomu. Punkt wspólny to frajda z opanowania jednej mechaniki i odkrywania jej kolejnych zastosowań. To grupa docelowa opisana w materiałach, a nie wynik przeprowadzonych badań rynku.</a:t>
            </a:r>
          </a:p>
          <a:p>
            <a:r>
              <a:rPr lang="pl-PL"/>
              <a:t>Źródło: specyfikacja.tex, Użytkownicy; deadline_1/value proposition canvas.pdf.</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[3:40–4:10] To jest istniejący mockup menu oraz oryginalna postać z dostarczonego pliku Figma Make. Po prawej widzimy neutralną pozę oraz klatkę animacji parowania mieczem. To statyczne kadry odzyskanych komponentów SVG, nie przerysowane postacie. Traktujemy go jako kierunek do dalszej rozmowy, nie jako zatwierdzoną oprawę całej gry. Etykieta wersji w obrazie należy do makiety i nie oznacza wydanej wersji gry.</a:t>
            </a:r>
          </a:p>
          <a:p>
            <a:r>
              <a:rPr lang="pl-PL"/>
              <a:t>Źródło grafiki: Feedback mockup.make, images/00131dcf29b7204da054f6a204fc6d419a773f8a. Oryginalny obraz menu, bez zmiany treści, zachowane proporcje. Postać: CharacterShowcase.tsx, neutralna poza i pierwszy utrzymany klucz parry. Źródła SVG zapisano w assets/figma-characters/.</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[4:10–4:45] Zapisany w specyfikacji zakres prototypu obejmuje co najmniej trzy poziomy, dwa typy przeciwników oraz trzy podstawowe akcje: ruch, skok i parowanie. To zakres planowany. Nie przedstawiamy tych liczb jako stanu ukończenia. Celem jest sprawdzenie, czy różne zastosowania parowania tworzą przyjemną grę.</a:t>
            </a:r>
          </a:p>
          <a:p>
            <a:r>
              <a:rPr lang="pl-PL"/>
              <a:t>Źródło: specyfikacja.tex, Cel projektu; req.tex, WF-01–WF-03, WF-07–WF-08 i WF-12. Aktualność zakresu pozostaje do potwierdzenia przez zespół, zgodnie z kwestionariuszem.</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[4:45–5:05] Kończymy pytaniem o najważniejszą obietnicę gry: jak wykorzystasz następny atak? Zapraszamy do pytań o koncepcję i uwag do proponowanych zastosowań parowania. Część technologiczna nie jest elementem tej wersji prezentacji. Hasło jest propozycją redakcyjną.</a:t>
            </a:r>
          </a:p>
          <a:p>
            <a:r>
              <a:rPr lang="pl-PL"/>
              <a:t>Zespół według dokumentów: Aleksander Bielicki, Radosław Głasek, Jakub Pączka, Michał Popkowicz, Filip Shramko, Kacper Trzciński.</a:t>
            </a:r>
          </a:p>
          <a:p>
            <a:r>
              <a:rPr lang="pl-PL"/>
              <a:t>Źródło koncepcji: specyfikacja.tex i req.tex. Brak deklaracji daty premiery, ceny, stanu ukończenia lub wyników testów.</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slideLayouts/_rels/slideLayout1.xml.rels><?xml version="1.0" encoding="UTF-8" standalone="yes"?><Relationships xmlns="http://schemas.openxmlformats.org/package/2006/relationships"><Relationship Id="master"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layout" Type="http://schemas.openxmlformats.org/officeDocument/2006/relationships/slideLayout" Target="../slideLayouts/slideLayout1.xml"/><Relationship Id="theme"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layout"/>
  </p:sldLayoutIdLst>
  <p:txStyles>
    <p:titleStyle/>
    <p:bodyStyle/>
    <p:otherStyle/>
  </p:txStyles>
</p:sldMaster>
</file>

<file path=ppt/slides/_rels/slide1.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1.xml"/><Relationship Id="img1" Type="http://schemas.openxmlformats.org/officeDocument/2006/relationships/image" Target="../media/figma-characters/player-parry.png"/><Relationship Id="img2" Type="http://schemas.openxmlformats.org/officeDocument/2006/relationships/image" Target="../media/figma-characters/enemy.png"/></Relationships>
</file>

<file path=ppt/slides/_rels/slide2.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2.xml"/><Relationship Id="img1" Type="http://schemas.openxmlformats.org/officeDocument/2006/relationships/image" Target="../media/figma-characters/player-parry.png"/><Relationship Id="img2" Type="http://schemas.openxmlformats.org/officeDocument/2006/relationships/image" Target="../media/figma-characters/player-parry.png"/><Relationship Id="img3" Type="http://schemas.openxmlformats.org/officeDocument/2006/relationships/image" Target="../media/figma-characters/player-idle.png"/></Relationships>
</file>

<file path=ppt/slides/_rels/slide3.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3.xml"/><Relationship Id="img1" Type="http://schemas.openxmlformats.org/officeDocument/2006/relationships/image" Target="../media/figma-characters/enemy.png"/><Relationship Id="img2" Type="http://schemas.openxmlformats.org/officeDocument/2006/relationships/image" Target="../media/figma-characters/player-idle.png"/><Relationship Id="img3" Type="http://schemas.openxmlformats.org/officeDocument/2006/relationships/image" Target="../media/figma-characters/enemy.png"/><Relationship Id="img4" Type="http://schemas.openxmlformats.org/officeDocument/2006/relationships/image" Target="../media/figma-characters/player-parry.png"/><Relationship Id="img5" Type="http://schemas.openxmlformats.org/officeDocument/2006/relationships/image" Target="../media/figma-characters/enemy.png"/><Relationship Id="img6" Type="http://schemas.openxmlformats.org/officeDocument/2006/relationships/image" Target="../media/figma-characters/player-idle.png"/></Relationships>
</file>

<file path=ppt/slides/_rels/slide4.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4.xml"/><Relationship Id="img1" Type="http://schemas.openxmlformats.org/officeDocument/2006/relationships/image" Target="../media/figma-characters/enemy.png"/><Relationship Id="img2" Type="http://schemas.openxmlformats.org/officeDocument/2006/relationships/image" Target="../media/figma-characters/player-parry.png"/><Relationship Id="img3" Type="http://schemas.openxmlformats.org/officeDocument/2006/relationships/image" Target="../media/figma-characters/player-idle.png"/></Relationships>
</file>

<file path=ppt/slides/_rels/slide5.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7.xml"/><Relationship Id="img1" Type="http://schemas.openxmlformats.org/officeDocument/2006/relationships/image" Target="../media/figma-menu.png"/><Relationship Id="img2" Type="http://schemas.openxmlformats.org/officeDocument/2006/relationships/image" Target="../media/figma-characters/player-idle.png"/><Relationship Id="img3" Type="http://schemas.openxmlformats.org/officeDocument/2006/relationships/image" Target="../media/figma-characters/player-parry.png"/></Relationships>
</file>

<file path=ppt/slides/_rels/slide8.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9.xml"/><Relationship Id="img1" Type="http://schemas.openxmlformats.org/officeDocument/2006/relationships/image" Target="../media/figma-characters/enemy.png"/><Relationship Id="img2" Type="http://schemas.openxmlformats.org/officeDocument/2006/relationships/image" Target="../media/figma-characters/player-parry.png"/></Relationships>
</file>

<file path=ppt/slides/slide1.xml><?xml version="1.0" encoding="utf-8"?>
<p:sld xmlns:a="http://schemas.openxmlformats.org/drawingml/2006/main" xmlns:p="http://schemas.openxmlformats.org/presentationml/2006/main" xmlns:r="http://schemas.openxmlformats.org/officeDocument/2006/relationships">
  <p:cSld name="Feedbac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PITCH PROJEKTU</a:t>
            </a:r>
            <a:endParaRPr lang="pl-PL" sz="1140"/>
          </a:p>
        </p:txBody>
      </p:sp>
      <p:cxnSp>
        <p:nvCxnSpPr>
          <p:cNvPr id="4" name="Line 4"/>
          <p:cNvCxnSpPr/>
          <p:nvPr/>
        </p:nvCxnSpPr>
        <p:spPr>
          <a:xfrm>
            <a:off x="548640" y="6393180"/>
            <a:ext cx="11094720" cy="0"/>
          </a:xfrm>
          <a:prstGeom prst="line">
            <a:avLst/>
          </a:prstGeom>
          <a:ln w="7620" cap="rnd">
            <a:solidFill>
              <a:srgbClr val="253149"/>
            </a:solidFill>
          </a:ln>
        </p:spPr>
      </p:cxnSp>
      <p:sp>
        <p:nvSpPr>
          <p:cNvPr id="5" name="Text 5"/>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6" name="Text 6"/>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koncepcyjny</a:t>
            </a:r>
            <a:endParaRPr lang="pl-PL" sz="1020"/>
          </a:p>
        </p:txBody>
      </p:sp>
      <p:sp>
        <p:nvSpPr>
          <p:cNvPr id="7" name="Text 7"/>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01</a:t>
            </a:r>
            <a:endParaRPr lang="pl-PL" sz="1200"/>
          </a:p>
        </p:txBody>
      </p:sp>
      <p:sp>
        <p:nvSpPr>
          <p:cNvPr id="8" name="Text 8"/>
          <p:cNvSpPr txBox="1"/>
          <p:nvPr/>
        </p:nvSpPr>
        <p:spPr>
          <a:xfrm>
            <a:off x="548640" y="1257300"/>
            <a:ext cx="6477000" cy="1143000"/>
          </a:xfrm>
          <a:prstGeom prst="rect">
            <a:avLst/>
          </a:prstGeom>
          <a:noFill/>
          <a:ln>
            <a:noFill/>
          </a:ln>
        </p:spPr>
        <p:txBody>
          <a:bodyPr wrap="square" lIns="0" tIns="0" rIns="0" bIns="0" anchor="t"/>
          <a:lstStyle/>
          <a:p>
            <a:pPr algn="l">
              <a:lnSpc>
                <a:spcPct val="110000"/>
              </a:lnSpc>
              <a:spcAft>
                <a:spcPts val="0"/>
              </a:spcAft>
            </a:pPr>
            <a:r>
              <a:rPr lang="pl-PL" sz="8160" b="1" dirty="0">
                <a:solidFill>
                  <a:srgbClr val="F1F4FC"/>
                </a:solidFill>
                <a:latin typeface="Lato"/>
                <a:ea typeface="Lato"/>
                <a:cs typeface="Lato"/>
              </a:rPr>
              <a:t>FEEDBACK</a:t>
            </a:r>
            <a:endParaRPr lang="pl-PL" sz="8160"/>
          </a:p>
        </p:txBody>
      </p:sp>
      <p:sp>
        <p:nvSpPr>
          <p:cNvPr id="9" name="Shape 9"/>
          <p:cNvSpPr/>
          <p:nvPr/>
        </p:nvSpPr>
        <p:spPr>
          <a:xfrm>
            <a:off x="579120" y="2377440"/>
            <a:ext cx="853440" cy="53340"/>
          </a:xfrm>
          <a:prstGeom prst="rect">
            <a:avLst/>
          </a:prstGeom>
          <a:solidFill>
            <a:srgbClr val="73E2CE"/>
          </a:solidFill>
          <a:ln>
            <a:noFill/>
          </a:ln>
        </p:spPr>
      </p:sp>
      <p:sp>
        <p:nvSpPr>
          <p:cNvPr id="10" name="Text 10"/>
          <p:cNvSpPr txBox="1"/>
          <p:nvPr/>
        </p:nvSpPr>
        <p:spPr>
          <a:xfrm>
            <a:off x="548640" y="2705100"/>
            <a:ext cx="6096000" cy="1447800"/>
          </a:xfrm>
          <a:prstGeom prst="rect">
            <a:avLst/>
          </a:prstGeom>
          <a:noFill/>
          <a:ln>
            <a:noFill/>
          </a:ln>
        </p:spPr>
        <p:txBody>
          <a:bodyPr wrap="square" lIns="0" tIns="0" rIns="0" bIns="0" anchor="t"/>
          <a:lstStyle/>
          <a:p>
            <a:pPr algn="l">
              <a:lnSpc>
                <a:spcPct val="110000"/>
              </a:lnSpc>
              <a:spcAft>
                <a:spcPts val="0"/>
              </a:spcAft>
            </a:pPr>
            <a:r>
              <a:rPr lang="pl-PL" sz="3960" b="1" dirty="0">
                <a:solidFill>
                  <a:srgbClr val="F1F4FC"/>
                </a:solidFill>
                <a:latin typeface="Lato"/>
                <a:ea typeface="Lato"/>
                <a:cs typeface="Lato"/>
              </a:rPr>
              <a:t>Siła przeciwnika.</a:t>
            </a:r>
            <a:endParaRPr lang="pl-PL" sz="3960"/>
          </a:p>
          <a:p>
            <a:pPr algn="l">
              <a:lnSpc>
                <a:spcPct val="110000"/>
              </a:lnSpc>
              <a:spcAft>
                <a:spcPts val="0"/>
              </a:spcAft>
            </a:pPr>
            <a:r>
              <a:rPr lang="pl-PL" sz="3960" b="1" dirty="0">
                <a:solidFill>
                  <a:srgbClr val="F1F4FC"/>
                </a:solidFill>
                <a:latin typeface="Lato"/>
                <a:ea typeface="Lato"/>
                <a:cs typeface="Lato"/>
              </a:rPr>
              <a:t>Twój następny ruch.</a:t>
            </a:r>
            <a:endParaRPr lang="pl-PL" sz="3960"/>
          </a:p>
        </p:txBody>
      </p:sp>
      <p:sp>
        <p:nvSpPr>
          <p:cNvPr id="11" name="Text 11"/>
          <p:cNvSpPr txBox="1"/>
          <p:nvPr/>
        </p:nvSpPr>
        <p:spPr>
          <a:xfrm>
            <a:off x="579120" y="4587240"/>
            <a:ext cx="5067300" cy="685800"/>
          </a:xfrm>
          <a:prstGeom prst="rect">
            <a:avLst/>
          </a:prstGeom>
          <a:noFill/>
          <a:ln>
            <a:noFill/>
          </a:ln>
        </p:spPr>
        <p:txBody>
          <a:bodyPr wrap="square" lIns="0" tIns="0" rIns="0" bIns="0" anchor="t"/>
          <a:lstStyle/>
          <a:p>
            <a:pPr algn="l">
              <a:lnSpc>
                <a:spcPct val="110000"/>
              </a:lnSpc>
              <a:spcAft>
                <a:spcPts val="0"/>
              </a:spcAft>
            </a:pPr>
            <a:r>
              <a:rPr lang="pl-PL" sz="1800" b="0" dirty="0">
                <a:solidFill>
                  <a:srgbClr val="9FADC5"/>
                </a:solidFill>
                <a:latin typeface="Lato"/>
                <a:ea typeface="Lato"/>
                <a:cs typeface="Lato"/>
              </a:rPr>
              <a:t>Parowanie, które pozwala</a:t>
            </a:r>
            <a:endParaRPr lang="pl-PL" sz="1800"/>
          </a:p>
          <a:p>
            <a:pPr algn="l">
              <a:lnSpc>
                <a:spcPct val="110000"/>
              </a:lnSpc>
              <a:spcAft>
                <a:spcPts val="0"/>
              </a:spcAft>
            </a:pPr>
            <a:r>
              <a:rPr lang="pl-PL" sz="1800" b="0" dirty="0">
                <a:solidFill>
                  <a:srgbClr val="9FADC5"/>
                </a:solidFill>
                <a:latin typeface="Lato"/>
                <a:ea typeface="Lato"/>
                <a:cs typeface="Lato"/>
              </a:rPr>
              <a:t>przetrwać, poruszać się i odkrywać drogę.</a:t>
            </a:r>
            <a:endParaRPr lang="pl-PL" sz="1800"/>
          </a:p>
        </p:txBody>
      </p:sp>
      <p:sp>
        <p:nvSpPr>
          <p:cNvPr id="12" name="Shape 12"/>
          <p:cNvSpPr/>
          <p:nvPr/>
        </p:nvSpPr>
        <p:spPr>
          <a:xfrm>
            <a:off x="579120" y="5631180"/>
            <a:ext cx="2514600" cy="289560"/>
          </a:xfrm>
          <a:prstGeom prst="rect">
            <a:avLst/>
          </a:prstGeom>
          <a:solidFill>
            <a:srgbClr val="171E31"/>
          </a:solidFill>
          <a:ln w="7620">
            <a:solidFill>
              <a:srgbClr val="73E2CE"/>
            </a:solidFill>
          </a:ln>
        </p:spPr>
      </p:sp>
      <p:sp>
        <p:nvSpPr>
          <p:cNvPr id="13" name="Text 13"/>
          <p:cNvSpPr txBox="1"/>
          <p:nvPr/>
        </p:nvSpPr>
        <p:spPr>
          <a:xfrm>
            <a:off x="685800" y="5684520"/>
            <a:ext cx="2301240" cy="198120"/>
          </a:xfrm>
          <a:prstGeom prst="rect">
            <a:avLst/>
          </a:prstGeom>
          <a:noFill/>
          <a:ln>
            <a:noFill/>
          </a:ln>
        </p:spPr>
        <p:txBody>
          <a:bodyPr wrap="square" lIns="0" tIns="0" rIns="0" bIns="0" anchor="t"/>
          <a:lstStyle/>
          <a:p>
            <a:pPr algn="l">
              <a:lnSpc>
                <a:spcPct val="110000"/>
              </a:lnSpc>
              <a:spcAft>
                <a:spcPts val="0"/>
              </a:spcAft>
            </a:pPr>
            <a:r>
              <a:rPr lang="pl-PL" sz="1080" b="1" dirty="0">
                <a:solidFill>
                  <a:srgbClr val="73E2CE"/>
                </a:solidFill>
                <a:latin typeface="Lato"/>
                <a:ea typeface="Lato"/>
                <a:cs typeface="Lato"/>
              </a:rPr>
              <a:t>KONCEPCJA GRY 2D</a:t>
            </a:r>
            <a:endParaRPr lang="pl-PL" sz="1080"/>
          </a:p>
        </p:txBody>
      </p:sp>
      <p:cxnSp>
        <p:nvCxnSpPr>
          <p:cNvPr id="14" name="Line 14"/>
          <p:cNvCxnSpPr/>
          <p:nvPr/>
        </p:nvCxnSpPr>
        <p:spPr>
          <a:xfrm>
            <a:off x="7620000" y="1905000"/>
            <a:ext cx="0" cy="3886200"/>
          </a:xfrm>
          <a:prstGeom prst="line">
            <a:avLst/>
          </a:prstGeom>
          <a:ln w="7620" cap="rnd">
            <a:solidFill>
              <a:srgbClr val="253149"/>
            </a:solidFill>
          </a:ln>
        </p:spPr>
      </p:cxnSp>
      <p:cxnSp>
        <p:nvCxnSpPr>
          <p:cNvPr id="15" name="Line 15"/>
          <p:cNvCxnSpPr/>
          <p:nvPr/>
        </p:nvCxnSpPr>
        <p:spPr>
          <a:xfrm>
            <a:off x="8534400" y="1905000"/>
            <a:ext cx="0" cy="3886200"/>
          </a:xfrm>
          <a:prstGeom prst="line">
            <a:avLst/>
          </a:prstGeom>
          <a:ln w="7620" cap="rnd">
            <a:solidFill>
              <a:srgbClr val="253149"/>
            </a:solidFill>
          </a:ln>
        </p:spPr>
      </p:cxnSp>
      <p:cxnSp>
        <p:nvCxnSpPr>
          <p:cNvPr id="16" name="Line 16"/>
          <p:cNvCxnSpPr/>
          <p:nvPr/>
        </p:nvCxnSpPr>
        <p:spPr>
          <a:xfrm>
            <a:off x="9448800" y="1905000"/>
            <a:ext cx="0" cy="3886200"/>
          </a:xfrm>
          <a:prstGeom prst="line">
            <a:avLst/>
          </a:prstGeom>
          <a:ln w="7620" cap="rnd">
            <a:solidFill>
              <a:srgbClr val="253149"/>
            </a:solidFill>
          </a:ln>
        </p:spPr>
      </p:cxnSp>
      <p:cxnSp>
        <p:nvCxnSpPr>
          <p:cNvPr id="17" name="Line 17"/>
          <p:cNvCxnSpPr/>
          <p:nvPr/>
        </p:nvCxnSpPr>
        <p:spPr>
          <a:xfrm>
            <a:off x="10363200" y="1905000"/>
            <a:ext cx="0" cy="3886200"/>
          </a:xfrm>
          <a:prstGeom prst="line">
            <a:avLst/>
          </a:prstGeom>
          <a:ln w="7620" cap="rnd">
            <a:solidFill>
              <a:srgbClr val="253149"/>
            </a:solidFill>
          </a:ln>
        </p:spPr>
      </p:cxnSp>
      <p:cxnSp>
        <p:nvCxnSpPr>
          <p:cNvPr id="18" name="Line 18"/>
          <p:cNvCxnSpPr/>
          <p:nvPr/>
        </p:nvCxnSpPr>
        <p:spPr>
          <a:xfrm>
            <a:off x="11277600" y="1905000"/>
            <a:ext cx="0" cy="3886200"/>
          </a:xfrm>
          <a:prstGeom prst="line">
            <a:avLst/>
          </a:prstGeom>
          <a:ln w="7620" cap="rnd">
            <a:solidFill>
              <a:srgbClr val="253149"/>
            </a:solidFill>
          </a:ln>
        </p:spPr>
      </p:cxnSp>
      <p:sp>
        <p:nvSpPr>
          <p:cNvPr id="19" name="Shape 19"/>
          <p:cNvSpPr/>
          <p:nvPr/>
        </p:nvSpPr>
        <p:spPr>
          <a:xfrm>
            <a:off x="7109460" y="5341620"/>
            <a:ext cx="4290060" cy="152400"/>
          </a:xfrm>
          <a:prstGeom prst="rect">
            <a:avLst/>
          </a:prstGeom>
          <a:solidFill>
            <a:srgbClr val="253149"/>
          </a:solidFill>
          <a:ln>
            <a:noFill/>
          </a:ln>
        </p:spPr>
      </p:sp>
      <p:sp>
        <p:nvSpPr>
          <p:cNvPr id="20" name="Shape 20"/>
          <p:cNvSpPr/>
          <p:nvPr/>
        </p:nvSpPr>
        <p:spPr>
          <a:xfrm>
            <a:off x="7109460" y="5341620"/>
            <a:ext cx="4290060" cy="30480"/>
          </a:xfrm>
          <a:prstGeom prst="rect">
            <a:avLst/>
          </a:prstGeom>
          <a:solidFill>
            <a:srgbClr val="9FADC5"/>
          </a:solidFill>
          <a:ln>
            <a:noFill/>
          </a:ln>
        </p:spPr>
      </p:sp>
      <p:sp>
        <p:nvSpPr>
          <p:cNvPr id="21" name="Shape 21"/>
          <p:cNvSpPr/>
          <p:nvPr/>
        </p:nvSpPr>
        <p:spPr>
          <a:xfrm>
            <a:off x="7261860" y="5417820"/>
            <a:ext cx="137160" cy="30480"/>
          </a:xfrm>
          <a:prstGeom prst="rect">
            <a:avLst/>
          </a:prstGeom>
          <a:solidFill>
            <a:srgbClr val="171E31"/>
          </a:solidFill>
          <a:ln>
            <a:noFill/>
          </a:ln>
        </p:spPr>
      </p:sp>
      <p:sp>
        <p:nvSpPr>
          <p:cNvPr id="22" name="Shape 22"/>
          <p:cNvSpPr/>
          <p:nvPr/>
        </p:nvSpPr>
        <p:spPr>
          <a:xfrm>
            <a:off x="7757160" y="5417820"/>
            <a:ext cx="137160" cy="30480"/>
          </a:xfrm>
          <a:prstGeom prst="rect">
            <a:avLst/>
          </a:prstGeom>
          <a:solidFill>
            <a:srgbClr val="171E31"/>
          </a:solidFill>
          <a:ln>
            <a:noFill/>
          </a:ln>
        </p:spPr>
      </p:sp>
      <p:sp>
        <p:nvSpPr>
          <p:cNvPr id="23" name="Shape 23"/>
          <p:cNvSpPr/>
          <p:nvPr/>
        </p:nvSpPr>
        <p:spPr>
          <a:xfrm>
            <a:off x="8252460" y="5417820"/>
            <a:ext cx="137160" cy="30480"/>
          </a:xfrm>
          <a:prstGeom prst="rect">
            <a:avLst/>
          </a:prstGeom>
          <a:solidFill>
            <a:srgbClr val="171E31"/>
          </a:solidFill>
          <a:ln>
            <a:noFill/>
          </a:ln>
        </p:spPr>
      </p:sp>
      <p:sp>
        <p:nvSpPr>
          <p:cNvPr id="24" name="Shape 24"/>
          <p:cNvSpPr/>
          <p:nvPr/>
        </p:nvSpPr>
        <p:spPr>
          <a:xfrm>
            <a:off x="8747760" y="5417820"/>
            <a:ext cx="137160" cy="30480"/>
          </a:xfrm>
          <a:prstGeom prst="rect">
            <a:avLst/>
          </a:prstGeom>
          <a:solidFill>
            <a:srgbClr val="171E31"/>
          </a:solidFill>
          <a:ln>
            <a:noFill/>
          </a:ln>
        </p:spPr>
      </p:sp>
      <p:sp>
        <p:nvSpPr>
          <p:cNvPr id="25" name="Shape 25"/>
          <p:cNvSpPr/>
          <p:nvPr/>
        </p:nvSpPr>
        <p:spPr>
          <a:xfrm>
            <a:off x="9243060" y="5417820"/>
            <a:ext cx="137160" cy="30480"/>
          </a:xfrm>
          <a:prstGeom prst="rect">
            <a:avLst/>
          </a:prstGeom>
          <a:solidFill>
            <a:srgbClr val="171E31"/>
          </a:solidFill>
          <a:ln>
            <a:noFill/>
          </a:ln>
        </p:spPr>
      </p:sp>
      <p:sp>
        <p:nvSpPr>
          <p:cNvPr id="26" name="Shape 26"/>
          <p:cNvSpPr/>
          <p:nvPr/>
        </p:nvSpPr>
        <p:spPr>
          <a:xfrm>
            <a:off x="9738360" y="5417820"/>
            <a:ext cx="137160" cy="30480"/>
          </a:xfrm>
          <a:prstGeom prst="rect">
            <a:avLst/>
          </a:prstGeom>
          <a:solidFill>
            <a:srgbClr val="171E31"/>
          </a:solidFill>
          <a:ln>
            <a:noFill/>
          </a:ln>
        </p:spPr>
      </p:sp>
      <p:sp>
        <p:nvSpPr>
          <p:cNvPr id="27" name="Shape 27"/>
          <p:cNvSpPr/>
          <p:nvPr/>
        </p:nvSpPr>
        <p:spPr>
          <a:xfrm>
            <a:off x="10233660" y="5417820"/>
            <a:ext cx="137160" cy="30480"/>
          </a:xfrm>
          <a:prstGeom prst="rect">
            <a:avLst/>
          </a:prstGeom>
          <a:solidFill>
            <a:srgbClr val="171E31"/>
          </a:solidFill>
          <a:ln>
            <a:noFill/>
          </a:ln>
        </p:spPr>
      </p:sp>
      <p:sp>
        <p:nvSpPr>
          <p:cNvPr id="28" name="Shape 28"/>
          <p:cNvSpPr/>
          <p:nvPr/>
        </p:nvSpPr>
        <p:spPr>
          <a:xfrm>
            <a:off x="10728960" y="5417820"/>
            <a:ext cx="137160" cy="30480"/>
          </a:xfrm>
          <a:prstGeom prst="rect">
            <a:avLst/>
          </a:prstGeom>
          <a:solidFill>
            <a:srgbClr val="171E31"/>
          </a:solidFill>
          <a:ln>
            <a:noFill/>
          </a:ln>
        </p:spPr>
      </p:sp>
      <p:sp>
        <p:nvSpPr>
          <p:cNvPr id="29" name="Shape 29"/>
          <p:cNvSpPr/>
          <p:nvPr/>
        </p:nvSpPr>
        <p:spPr>
          <a:xfrm>
            <a:off x="11224260" y="5417820"/>
            <a:ext cx="137160" cy="30480"/>
          </a:xfrm>
          <a:prstGeom prst="rect">
            <a:avLst/>
          </a:prstGeom>
          <a:solidFill>
            <a:srgbClr val="171E31"/>
          </a:solidFill>
          <a:ln>
            <a:noFill/>
          </a:ln>
        </p:spPr>
      </p:sp>
      <p:pic>
        <p:nvPicPr>
          <p:cNvPr id="30" name="figma-characters/player-parry.png" descr="Grafika odzyskana z Feedback mockup.make; statyczny kadr makiety."/>
          <p:cNvPicPr>
            <a:picLocks noChangeAspect="1"/>
          </p:cNvPicPr>
          <p:nvPr/>
        </p:nvPicPr>
        <p:blipFill>
          <a:blip r:embed="img1"/>
          <a:stretch>
            <a:fillRect/>
          </a:stretch>
        </p:blipFill>
        <p:spPr>
          <a:xfrm>
            <a:off x="7946335" y="3304761"/>
            <a:ext cx="2266122" cy="2014330"/>
          </a:xfrm>
          <a:prstGeom prst="rect">
            <a:avLst/>
          </a:prstGeom>
        </p:spPr>
      </p:pic>
      <p:pic>
        <p:nvPicPr>
          <p:cNvPr id="31" name="figma-characters/enemy.png" descr="Grafika odzyskana z Feedback mockup.make; statyczny kadr makiety."/>
          <p:cNvPicPr>
            <a:picLocks noChangeAspect="1"/>
          </p:cNvPicPr>
          <p:nvPr/>
        </p:nvPicPr>
        <p:blipFill>
          <a:blip r:embed="img2"/>
          <a:stretch>
            <a:fillRect/>
          </a:stretch>
        </p:blipFill>
        <p:spPr>
          <a:xfrm>
            <a:off x="10483596" y="3916680"/>
            <a:ext cx="1146658" cy="1337767"/>
          </a:xfrm>
          <a:prstGeom prst="rect">
            <a:avLst/>
          </a:prstGeom>
        </p:spPr>
      </p:pic>
      <p:cxnSp>
        <p:nvCxnSpPr>
          <p:cNvPr id="32" name="Line 32"/>
          <p:cNvCxnSpPr/>
          <p:nvPr/>
        </p:nvCxnSpPr>
        <p:spPr>
          <a:xfrm flipH="1">
            <a:off x="9944100" y="4389120"/>
            <a:ext cx="647700" cy="0"/>
          </a:xfrm>
          <a:prstGeom prst="line">
            <a:avLst/>
          </a:prstGeom>
          <a:ln w="53340" cap="rnd">
            <a:solidFill>
              <a:srgbClr val="FFB477"/>
            </a:solidFill>
            <a:tailEnd type="triangle" w="med" len="med"/>
          </a:ln>
        </p:spPr>
      </p:cxnSp>
      <p:sp>
        <p:nvSpPr>
          <p:cNvPr id="33" name="Shape 33"/>
          <p:cNvSpPr/>
          <p:nvPr/>
        </p:nvSpPr>
        <p:spPr>
          <a:xfrm>
            <a:off x="9753600" y="4290060"/>
            <a:ext cx="198120" cy="198120"/>
          </a:xfrm>
          <a:prstGeom prst="ellipse">
            <a:avLst/>
          </a:prstGeom>
          <a:solidFill>
            <a:srgbClr val="FFB477"/>
          </a:solidFill>
          <a:ln>
            <a:noFill/>
          </a:ln>
        </p:spPr>
      </p:sp>
      <p:cxnSp>
        <p:nvCxnSpPr>
          <p:cNvPr id="34" name="Line 34"/>
          <p:cNvCxnSpPr/>
          <p:nvPr/>
        </p:nvCxnSpPr>
        <p:spPr>
          <a:xfrm flipH="1" flipV="1">
            <a:off x="7848600" y="2766060"/>
            <a:ext cx="1447800" cy="906780"/>
          </a:xfrm>
          <a:prstGeom prst="line">
            <a:avLst/>
          </a:prstGeom>
          <a:ln w="53340" cap="rnd">
            <a:solidFill>
              <a:srgbClr val="73E2CE"/>
            </a:solidFill>
            <a:tailEnd type="triangle" w="med" len="med"/>
          </a:ln>
        </p:spPr>
      </p:cxnSp>
      <p:sp>
        <p:nvSpPr>
          <p:cNvPr id="35" name="Shape 35"/>
          <p:cNvSpPr/>
          <p:nvPr/>
        </p:nvSpPr>
        <p:spPr>
          <a:xfrm>
            <a:off x="7863840" y="2667000"/>
            <a:ext cx="152400" cy="152400"/>
          </a:xfrm>
          <a:prstGeom prst="ellipse">
            <a:avLst/>
          </a:prstGeom>
          <a:solidFill>
            <a:srgbClr val="73E2CE"/>
          </a:solidFill>
          <a:ln>
            <a:noFill/>
          </a:ln>
        </p:spPr>
      </p:sp>
      <p:cxnSp>
        <p:nvCxnSpPr>
          <p:cNvPr id="36" name="Line 36"/>
          <p:cNvCxnSpPr/>
          <p:nvPr/>
        </p:nvCxnSpPr>
        <p:spPr>
          <a:xfrm flipV="1">
            <a:off x="9339942" y="3334881"/>
            <a:ext cx="48305" cy="103591"/>
          </a:xfrm>
          <a:prstGeom prst="line">
            <a:avLst/>
          </a:prstGeom>
          <a:ln w="22860" cap="rnd">
            <a:solidFill>
              <a:srgbClr val="73E2CE"/>
            </a:solidFill>
          </a:ln>
        </p:spPr>
      </p:cxnSp>
      <p:cxnSp>
        <p:nvCxnSpPr>
          <p:cNvPr id="37" name="Line 37"/>
          <p:cNvCxnSpPr/>
          <p:nvPr/>
        </p:nvCxnSpPr>
        <p:spPr>
          <a:xfrm flipV="1">
            <a:off x="9745394" y="3752850"/>
            <a:ext cx="98987" cy="57150"/>
          </a:xfrm>
          <a:prstGeom prst="line">
            <a:avLst/>
          </a:prstGeom>
          <a:ln w="22860" cap="rnd">
            <a:solidFill>
              <a:srgbClr val="73E2CE"/>
            </a:solidFill>
          </a:ln>
        </p:spPr>
      </p:cxnSp>
      <p:cxnSp>
        <p:nvCxnSpPr>
          <p:cNvPr id="38" name="Line 38"/>
          <p:cNvCxnSpPr/>
          <p:nvPr/>
        </p:nvCxnSpPr>
        <p:spPr>
          <a:xfrm>
            <a:off x="9864420" y="4346895"/>
            <a:ext cx="113865" cy="9962"/>
          </a:xfrm>
          <a:prstGeom prst="line">
            <a:avLst/>
          </a:prstGeom>
          <a:ln w="22860" cap="rnd">
            <a:solidFill>
              <a:srgbClr val="73E2CE"/>
            </a:solidFill>
          </a:ln>
        </p:spPr>
      </p:cxnSp>
      <p:cxnSp>
        <p:nvCxnSpPr>
          <p:cNvPr id="39" name="Line 39"/>
          <p:cNvCxnSpPr/>
          <p:nvPr/>
        </p:nvCxnSpPr>
        <p:spPr>
          <a:xfrm>
            <a:off x="9653971" y="4854965"/>
            <a:ext cx="87559" cy="73471"/>
          </a:xfrm>
          <a:prstGeom prst="line">
            <a:avLst/>
          </a:prstGeom>
          <a:ln w="22860" cap="rnd">
            <a:solidFill>
              <a:srgbClr val="73E2CE"/>
            </a:solidFill>
          </a:ln>
        </p:spPr>
      </p:cxnSp>
      <p:cxnSp>
        <p:nvCxnSpPr>
          <p:cNvPr id="40" name="Line 40"/>
          <p:cNvCxnSpPr/>
          <p:nvPr/>
        </p:nvCxnSpPr>
        <p:spPr>
          <a:xfrm>
            <a:off x="9190164" y="5150443"/>
            <a:ext cx="29583" cy="110405"/>
          </a:xfrm>
          <a:prstGeom prst="line">
            <a:avLst/>
          </a:prstGeom>
          <a:ln w="22860" cap="rnd">
            <a:solidFill>
              <a:srgbClr val="73E2CE"/>
            </a:solidFill>
          </a:ln>
        </p:spPr>
      </p:cxnSp>
      <p:cxnSp>
        <p:nvCxnSpPr>
          <p:cNvPr id="41" name="Line 41"/>
          <p:cNvCxnSpPr/>
          <p:nvPr/>
        </p:nvCxnSpPr>
        <p:spPr>
          <a:xfrm flipH="1">
            <a:off x="8601664" y="5126455"/>
            <a:ext cx="39093" cy="107407"/>
          </a:xfrm>
          <a:prstGeom prst="line">
            <a:avLst/>
          </a:prstGeom>
          <a:ln w="22860" cap="rnd">
            <a:solidFill>
              <a:srgbClr val="73E2CE"/>
            </a:solidFill>
          </a:ln>
        </p:spPr>
      </p:cxnSp>
      <p:cxnSp>
        <p:nvCxnSpPr>
          <p:cNvPr id="42" name="Line 42"/>
          <p:cNvCxnSpPr/>
          <p:nvPr/>
        </p:nvCxnSpPr>
        <p:spPr>
          <a:xfrm flipH="1">
            <a:off x="8110838" y="4791678"/>
            <a:ext cx="93629" cy="65560"/>
          </a:xfrm>
          <a:prstGeom prst="line">
            <a:avLst/>
          </a:prstGeom>
          <a:ln w="22860" cap="rnd">
            <a:solidFill>
              <a:srgbClr val="73E2CE"/>
            </a:solidFill>
          </a:ln>
        </p:spPr>
      </p:cxnSp>
      <p:cxnSp>
        <p:nvCxnSpPr>
          <p:cNvPr id="43" name="Line 43"/>
          <p:cNvCxnSpPr/>
          <p:nvPr/>
        </p:nvCxnSpPr>
        <p:spPr>
          <a:xfrm flipH="1">
            <a:off x="7924800" y="4267200"/>
            <a:ext cx="114300" cy="0"/>
          </a:xfrm>
          <a:prstGeom prst="line">
            <a:avLst/>
          </a:prstGeom>
          <a:ln w="22860" cap="rnd">
            <a:solidFill>
              <a:srgbClr val="73E2CE"/>
            </a:solidFill>
          </a:ln>
        </p:spPr>
      </p:cxnSp>
      <p:cxnSp>
        <p:nvCxnSpPr>
          <p:cNvPr id="44" name="Line 44"/>
          <p:cNvCxnSpPr/>
          <p:nvPr/>
        </p:nvCxnSpPr>
        <p:spPr>
          <a:xfrm flipH="1" flipV="1">
            <a:off x="8110838" y="3677162"/>
            <a:ext cx="93629" cy="65560"/>
          </a:xfrm>
          <a:prstGeom prst="line">
            <a:avLst/>
          </a:prstGeom>
          <a:ln w="22860" cap="rnd">
            <a:solidFill>
              <a:srgbClr val="73E2CE"/>
            </a:solidFill>
          </a:ln>
        </p:spPr>
      </p:cxnSp>
      <p:sp>
        <p:nvSpPr>
          <p:cNvPr id="45" name="Text 45"/>
          <p:cNvSpPr txBox="1"/>
          <p:nvPr/>
        </p:nvSpPr>
        <p:spPr>
          <a:xfrm>
            <a:off x="7620000" y="5867400"/>
            <a:ext cx="3581400" cy="243840"/>
          </a:xfrm>
          <a:prstGeom prst="rect">
            <a:avLst/>
          </a:prstGeom>
          <a:noFill/>
          <a:ln>
            <a:noFill/>
          </a:ln>
        </p:spPr>
        <p:txBody>
          <a:bodyPr wrap="square" lIns="0" tIns="0" rIns="0" bIns="0" anchor="t"/>
          <a:lstStyle/>
          <a:p>
            <a:pPr algn="r">
              <a:lnSpc>
                <a:spcPct val="110000"/>
              </a:lnSpc>
              <a:spcAft>
                <a:spcPts val="0"/>
              </a:spcAft>
            </a:pPr>
            <a:r>
              <a:rPr lang="pl-PL" sz="1380" b="0" dirty="0">
                <a:solidFill>
                  <a:srgbClr val="73E2CE"/>
                </a:solidFill>
                <a:latin typeface="Lato"/>
                <a:ea typeface="Lato"/>
                <a:cs typeface="Lato"/>
              </a:rPr>
              <a:t>Ruch zaczyna się od parowania.</a:t>
            </a:r>
            <a:endParaRPr lang="pl-PL" sz="138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Każdy atak to okazja.">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01 / OBIETNICA GRY</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Każdy atak to okazja.</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Schematy koncepcyjne</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02</a:t>
            </a:r>
            <a:endParaRPr lang="pl-PL" sz="1200"/>
          </a:p>
        </p:txBody>
      </p:sp>
      <p:sp>
        <p:nvSpPr>
          <p:cNvPr id="9" name="Shape 9"/>
          <p:cNvSpPr/>
          <p:nvPr/>
        </p:nvSpPr>
        <p:spPr>
          <a:xfrm>
            <a:off x="548640" y="1958340"/>
            <a:ext cx="3566160" cy="3726180"/>
          </a:xfrm>
          <a:prstGeom prst="rect">
            <a:avLst/>
          </a:prstGeom>
          <a:solidFill>
            <a:srgbClr val="171E31"/>
          </a:solidFill>
          <a:ln>
            <a:noFill/>
          </a:ln>
        </p:spPr>
      </p:sp>
      <p:sp>
        <p:nvSpPr>
          <p:cNvPr id="10" name="Text 10"/>
          <p:cNvSpPr txBox="1"/>
          <p:nvPr/>
        </p:nvSpPr>
        <p:spPr>
          <a:xfrm>
            <a:off x="777240" y="2133600"/>
            <a:ext cx="762000" cy="320040"/>
          </a:xfrm>
          <a:prstGeom prst="rect">
            <a:avLst/>
          </a:prstGeom>
          <a:noFill/>
          <a:ln>
            <a:noFill/>
          </a:ln>
        </p:spPr>
        <p:txBody>
          <a:bodyPr wrap="square" lIns="0" tIns="0" rIns="0" bIns="0" anchor="t"/>
          <a:lstStyle/>
          <a:p>
            <a:pPr algn="l">
              <a:lnSpc>
                <a:spcPct val="110000"/>
              </a:lnSpc>
              <a:spcAft>
                <a:spcPts val="0"/>
              </a:spcAft>
            </a:pPr>
            <a:r>
              <a:rPr lang="pl-PL" sz="1680" b="1" dirty="0">
                <a:solidFill>
                  <a:srgbClr val="73E2CE"/>
                </a:solidFill>
                <a:latin typeface="Lato"/>
                <a:ea typeface="Lato"/>
                <a:cs typeface="Lato"/>
              </a:rPr>
              <a:t>01</a:t>
            </a:r>
            <a:endParaRPr lang="pl-PL" sz="1680"/>
          </a:p>
        </p:txBody>
      </p:sp>
      <p:sp>
        <p:nvSpPr>
          <p:cNvPr id="11" name="Text 11"/>
          <p:cNvSpPr txBox="1"/>
          <p:nvPr/>
        </p:nvSpPr>
        <p:spPr>
          <a:xfrm>
            <a:off x="777240" y="4518660"/>
            <a:ext cx="3124200" cy="441960"/>
          </a:xfrm>
          <a:prstGeom prst="rect">
            <a:avLst/>
          </a:prstGeom>
          <a:noFill/>
          <a:ln>
            <a:noFill/>
          </a:ln>
        </p:spPr>
        <p:txBody>
          <a:bodyPr wrap="square" lIns="0" tIns="0" rIns="0" bIns="0" anchor="t"/>
          <a:lstStyle/>
          <a:p>
            <a:pPr algn="l">
              <a:lnSpc>
                <a:spcPct val="110000"/>
              </a:lnSpc>
              <a:spcAft>
                <a:spcPts val="0"/>
              </a:spcAft>
            </a:pPr>
            <a:r>
              <a:rPr lang="pl-PL" sz="2520" b="1" dirty="0">
                <a:solidFill>
                  <a:srgbClr val="F1F4FC"/>
                </a:solidFill>
                <a:latin typeface="Lato"/>
                <a:ea typeface="Lato"/>
                <a:cs typeface="Lato"/>
              </a:rPr>
              <a:t>Odbij pocisk</a:t>
            </a:r>
            <a:endParaRPr lang="pl-PL" sz="2520"/>
          </a:p>
        </p:txBody>
      </p:sp>
      <p:sp>
        <p:nvSpPr>
          <p:cNvPr id="12" name="Text 12"/>
          <p:cNvSpPr txBox="1"/>
          <p:nvPr/>
        </p:nvSpPr>
        <p:spPr>
          <a:xfrm>
            <a:off x="777240" y="5029200"/>
            <a:ext cx="3124200" cy="41910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Wykorzystaj atak przeciwnika.</a:t>
            </a:r>
            <a:endParaRPr lang="pl-PL" sz="1500"/>
          </a:p>
        </p:txBody>
      </p:sp>
      <p:sp>
        <p:nvSpPr>
          <p:cNvPr id="13" name="Shape 13"/>
          <p:cNvSpPr/>
          <p:nvPr/>
        </p:nvSpPr>
        <p:spPr>
          <a:xfrm>
            <a:off x="4312920" y="1958340"/>
            <a:ext cx="3566160" cy="3726180"/>
          </a:xfrm>
          <a:prstGeom prst="rect">
            <a:avLst/>
          </a:prstGeom>
          <a:solidFill>
            <a:srgbClr val="171E31"/>
          </a:solidFill>
          <a:ln>
            <a:noFill/>
          </a:ln>
        </p:spPr>
      </p:sp>
      <p:sp>
        <p:nvSpPr>
          <p:cNvPr id="14" name="Text 14"/>
          <p:cNvSpPr txBox="1"/>
          <p:nvPr/>
        </p:nvSpPr>
        <p:spPr>
          <a:xfrm>
            <a:off x="4541520" y="2133600"/>
            <a:ext cx="762000" cy="320040"/>
          </a:xfrm>
          <a:prstGeom prst="rect">
            <a:avLst/>
          </a:prstGeom>
          <a:noFill/>
          <a:ln>
            <a:noFill/>
          </a:ln>
        </p:spPr>
        <p:txBody>
          <a:bodyPr wrap="square" lIns="0" tIns="0" rIns="0" bIns="0" anchor="t"/>
          <a:lstStyle/>
          <a:p>
            <a:pPr algn="l">
              <a:lnSpc>
                <a:spcPct val="110000"/>
              </a:lnSpc>
              <a:spcAft>
                <a:spcPts val="0"/>
              </a:spcAft>
            </a:pPr>
            <a:r>
              <a:rPr lang="pl-PL" sz="1680" b="1" dirty="0">
                <a:solidFill>
                  <a:srgbClr val="A79AFF"/>
                </a:solidFill>
                <a:latin typeface="Lato"/>
                <a:ea typeface="Lato"/>
                <a:cs typeface="Lato"/>
              </a:rPr>
              <a:t>02</a:t>
            </a:r>
            <a:endParaRPr lang="pl-PL" sz="1680"/>
          </a:p>
        </p:txBody>
      </p:sp>
      <p:sp>
        <p:nvSpPr>
          <p:cNvPr id="15" name="Text 15"/>
          <p:cNvSpPr txBox="1"/>
          <p:nvPr/>
        </p:nvSpPr>
        <p:spPr>
          <a:xfrm>
            <a:off x="4541520" y="4518660"/>
            <a:ext cx="3124200" cy="441960"/>
          </a:xfrm>
          <a:prstGeom prst="rect">
            <a:avLst/>
          </a:prstGeom>
          <a:noFill/>
          <a:ln>
            <a:noFill/>
          </a:ln>
        </p:spPr>
        <p:txBody>
          <a:bodyPr wrap="square" lIns="0" tIns="0" rIns="0" bIns="0" anchor="t"/>
          <a:lstStyle/>
          <a:p>
            <a:pPr algn="l">
              <a:lnSpc>
                <a:spcPct val="110000"/>
              </a:lnSpc>
              <a:spcAft>
                <a:spcPts val="0"/>
              </a:spcAft>
            </a:pPr>
            <a:r>
              <a:rPr lang="pl-PL" sz="2520" b="1" dirty="0">
                <a:solidFill>
                  <a:srgbClr val="F1F4FC"/>
                </a:solidFill>
                <a:latin typeface="Lato"/>
                <a:ea typeface="Lato"/>
                <a:cs typeface="Lato"/>
              </a:rPr>
              <a:t>Przejmij pęd</a:t>
            </a:r>
            <a:endParaRPr lang="pl-PL" sz="2520"/>
          </a:p>
        </p:txBody>
      </p:sp>
      <p:sp>
        <p:nvSpPr>
          <p:cNvPr id="16" name="Text 16"/>
          <p:cNvSpPr txBox="1"/>
          <p:nvPr/>
        </p:nvSpPr>
        <p:spPr>
          <a:xfrm>
            <a:off x="4541520" y="5029200"/>
            <a:ext cx="3124200" cy="41910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Dotrzyj dalej dzięki parowaniu.</a:t>
            </a:r>
            <a:endParaRPr lang="pl-PL" sz="1500"/>
          </a:p>
        </p:txBody>
      </p:sp>
      <p:sp>
        <p:nvSpPr>
          <p:cNvPr id="17" name="Shape 17"/>
          <p:cNvSpPr/>
          <p:nvPr/>
        </p:nvSpPr>
        <p:spPr>
          <a:xfrm>
            <a:off x="8077200" y="1958340"/>
            <a:ext cx="3566160" cy="3726180"/>
          </a:xfrm>
          <a:prstGeom prst="rect">
            <a:avLst/>
          </a:prstGeom>
          <a:solidFill>
            <a:srgbClr val="171E31"/>
          </a:solidFill>
          <a:ln>
            <a:noFill/>
          </a:ln>
        </p:spPr>
      </p:sp>
      <p:sp>
        <p:nvSpPr>
          <p:cNvPr id="18" name="Text 18"/>
          <p:cNvSpPr txBox="1"/>
          <p:nvPr/>
        </p:nvSpPr>
        <p:spPr>
          <a:xfrm>
            <a:off x="8305800" y="2133600"/>
            <a:ext cx="762000" cy="320040"/>
          </a:xfrm>
          <a:prstGeom prst="rect">
            <a:avLst/>
          </a:prstGeom>
          <a:noFill/>
          <a:ln>
            <a:noFill/>
          </a:ln>
        </p:spPr>
        <p:txBody>
          <a:bodyPr wrap="square" lIns="0" tIns="0" rIns="0" bIns="0" anchor="t"/>
          <a:lstStyle/>
          <a:p>
            <a:pPr algn="l">
              <a:lnSpc>
                <a:spcPct val="110000"/>
              </a:lnSpc>
              <a:spcAft>
                <a:spcPts val="0"/>
              </a:spcAft>
            </a:pPr>
            <a:r>
              <a:rPr lang="pl-PL" sz="1680" b="1" dirty="0">
                <a:solidFill>
                  <a:srgbClr val="FFB477"/>
                </a:solidFill>
                <a:latin typeface="Lato"/>
                <a:ea typeface="Lato"/>
                <a:cs typeface="Lato"/>
              </a:rPr>
              <a:t>03</a:t>
            </a:r>
            <a:endParaRPr lang="pl-PL" sz="1680"/>
          </a:p>
        </p:txBody>
      </p:sp>
      <p:sp>
        <p:nvSpPr>
          <p:cNvPr id="19" name="Text 19"/>
          <p:cNvSpPr txBox="1"/>
          <p:nvPr/>
        </p:nvSpPr>
        <p:spPr>
          <a:xfrm>
            <a:off x="8305800" y="4518660"/>
            <a:ext cx="3124200" cy="441960"/>
          </a:xfrm>
          <a:prstGeom prst="rect">
            <a:avLst/>
          </a:prstGeom>
          <a:noFill/>
          <a:ln>
            <a:noFill/>
          </a:ln>
        </p:spPr>
        <p:txBody>
          <a:bodyPr wrap="square" lIns="0" tIns="0" rIns="0" bIns="0" anchor="t"/>
          <a:lstStyle/>
          <a:p>
            <a:pPr algn="l">
              <a:lnSpc>
                <a:spcPct val="110000"/>
              </a:lnSpc>
              <a:spcAft>
                <a:spcPts val="0"/>
              </a:spcAft>
            </a:pPr>
            <a:r>
              <a:rPr lang="pl-PL" sz="2520" b="1" dirty="0">
                <a:solidFill>
                  <a:srgbClr val="F1F4FC"/>
                </a:solidFill>
                <a:latin typeface="Lato"/>
                <a:ea typeface="Lato"/>
                <a:cs typeface="Lato"/>
              </a:rPr>
              <a:t>Otwórz drogę</a:t>
            </a:r>
            <a:endParaRPr lang="pl-PL" sz="2520"/>
          </a:p>
        </p:txBody>
      </p:sp>
      <p:sp>
        <p:nvSpPr>
          <p:cNvPr id="20" name="Text 20"/>
          <p:cNvSpPr txBox="1"/>
          <p:nvPr/>
        </p:nvSpPr>
        <p:spPr>
          <a:xfrm>
            <a:off x="8305800" y="5029200"/>
            <a:ext cx="3124200" cy="41910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Uruchom element otoczenia.</a:t>
            </a:r>
            <a:endParaRPr lang="pl-PL" sz="1500"/>
          </a:p>
        </p:txBody>
      </p:sp>
      <p:pic>
        <p:nvPicPr>
          <p:cNvPr id="21" name="figma-characters/player-parry.png" descr="Grafika odzyskana z Feedback mockup.make; statyczny kadr makiety."/>
          <p:cNvPicPr>
            <a:picLocks noChangeAspect="1"/>
          </p:cNvPicPr>
          <p:nvPr/>
        </p:nvPicPr>
        <p:blipFill>
          <a:blip r:embed="img1"/>
          <a:stretch>
            <a:fillRect/>
          </a:stretch>
        </p:blipFill>
        <p:spPr>
          <a:xfrm flipH="1">
            <a:off x="1639625" y="2827351"/>
            <a:ext cx="1314351" cy="1168312"/>
          </a:xfrm>
          <a:prstGeom prst="rect">
            <a:avLst/>
          </a:prstGeom>
        </p:spPr>
      </p:pic>
      <p:cxnSp>
        <p:nvCxnSpPr>
          <p:cNvPr id="22" name="Line 22"/>
          <p:cNvCxnSpPr/>
          <p:nvPr/>
        </p:nvCxnSpPr>
        <p:spPr>
          <a:xfrm flipH="1">
            <a:off x="1066800" y="3352800"/>
            <a:ext cx="800100" cy="0"/>
          </a:xfrm>
          <a:prstGeom prst="line">
            <a:avLst/>
          </a:prstGeom>
          <a:ln w="53340" cap="rnd">
            <a:solidFill>
              <a:srgbClr val="73E2CE"/>
            </a:solidFill>
            <a:tailEnd type="triangle" w="med" len="med"/>
          </a:ln>
        </p:spPr>
      </p:cxnSp>
      <p:sp>
        <p:nvSpPr>
          <p:cNvPr id="23" name="Shape 23"/>
          <p:cNvSpPr/>
          <p:nvPr/>
        </p:nvSpPr>
        <p:spPr>
          <a:xfrm>
            <a:off x="1356360" y="3253740"/>
            <a:ext cx="175260" cy="175260"/>
          </a:xfrm>
          <a:prstGeom prst="ellipse">
            <a:avLst/>
          </a:prstGeom>
          <a:solidFill>
            <a:srgbClr val="73E2CE"/>
          </a:solidFill>
          <a:ln>
            <a:noFill/>
          </a:ln>
        </p:spPr>
      </p:sp>
      <p:pic>
        <p:nvPicPr>
          <p:cNvPr id="24" name="figma-characters/player-parry.png" descr="Grafika odzyskana z Feedback mockup.make; statyczny kadr makiety."/>
          <p:cNvPicPr>
            <a:picLocks noChangeAspect="1"/>
          </p:cNvPicPr>
          <p:nvPr/>
        </p:nvPicPr>
        <p:blipFill>
          <a:blip r:embed="img2"/>
          <a:stretch>
            <a:fillRect/>
          </a:stretch>
        </p:blipFill>
        <p:spPr>
          <a:xfrm flipH="1">
            <a:off x="4592541" y="3415085"/>
            <a:ext cx="1087738" cy="966879"/>
          </a:xfrm>
          <a:prstGeom prst="rect">
            <a:avLst/>
          </a:prstGeom>
        </p:spPr>
      </p:pic>
      <p:cxnSp>
        <p:nvCxnSpPr>
          <p:cNvPr id="25" name="Line 25"/>
          <p:cNvCxnSpPr/>
          <p:nvPr/>
        </p:nvCxnSpPr>
        <p:spPr>
          <a:xfrm flipV="1">
            <a:off x="5715000" y="2788920"/>
            <a:ext cx="1066800" cy="944880"/>
          </a:xfrm>
          <a:prstGeom prst="line">
            <a:avLst/>
          </a:prstGeom>
          <a:ln w="45720" cap="rnd">
            <a:solidFill>
              <a:srgbClr val="A79AFF"/>
            </a:solidFill>
            <a:tailEnd type="triangle" w="med" len="med"/>
          </a:ln>
        </p:spPr>
      </p:cxnSp>
      <p:sp>
        <p:nvSpPr>
          <p:cNvPr id="26" name="Shape 26"/>
          <p:cNvSpPr/>
          <p:nvPr/>
        </p:nvSpPr>
        <p:spPr>
          <a:xfrm>
            <a:off x="6499860" y="2987040"/>
            <a:ext cx="845820" cy="152400"/>
          </a:xfrm>
          <a:prstGeom prst="rect">
            <a:avLst/>
          </a:prstGeom>
          <a:solidFill>
            <a:srgbClr val="253149"/>
          </a:solidFill>
          <a:ln>
            <a:noFill/>
          </a:ln>
        </p:spPr>
      </p:sp>
      <p:sp>
        <p:nvSpPr>
          <p:cNvPr id="27" name="Shape 27"/>
          <p:cNvSpPr/>
          <p:nvPr/>
        </p:nvSpPr>
        <p:spPr>
          <a:xfrm>
            <a:off x="6499860" y="2987040"/>
            <a:ext cx="845820" cy="30480"/>
          </a:xfrm>
          <a:prstGeom prst="rect">
            <a:avLst/>
          </a:prstGeom>
          <a:solidFill>
            <a:srgbClr val="9FADC5"/>
          </a:solidFill>
          <a:ln>
            <a:noFill/>
          </a:ln>
        </p:spPr>
      </p:sp>
      <p:sp>
        <p:nvSpPr>
          <p:cNvPr id="28" name="Shape 28"/>
          <p:cNvSpPr/>
          <p:nvPr/>
        </p:nvSpPr>
        <p:spPr>
          <a:xfrm>
            <a:off x="6652260" y="3063240"/>
            <a:ext cx="137160" cy="30480"/>
          </a:xfrm>
          <a:prstGeom prst="rect">
            <a:avLst/>
          </a:prstGeom>
          <a:solidFill>
            <a:srgbClr val="171E31"/>
          </a:solidFill>
          <a:ln>
            <a:noFill/>
          </a:ln>
        </p:spPr>
      </p:sp>
      <p:sp>
        <p:nvSpPr>
          <p:cNvPr id="29" name="Shape 29"/>
          <p:cNvSpPr/>
          <p:nvPr/>
        </p:nvSpPr>
        <p:spPr>
          <a:xfrm>
            <a:off x="7147560" y="3063240"/>
            <a:ext cx="137160" cy="30480"/>
          </a:xfrm>
          <a:prstGeom prst="rect">
            <a:avLst/>
          </a:prstGeom>
          <a:solidFill>
            <a:srgbClr val="171E31"/>
          </a:solidFill>
          <a:ln>
            <a:noFill/>
          </a:ln>
        </p:spPr>
      </p:sp>
      <p:pic>
        <p:nvPicPr>
          <p:cNvPr id="30" name="figma-characters/player-idle.png" descr="Grafika odzyskana z Feedback mockup.make; statyczny kadr makiety."/>
          <p:cNvPicPr>
            <a:picLocks noChangeAspect="1"/>
          </p:cNvPicPr>
          <p:nvPr/>
        </p:nvPicPr>
        <p:blipFill>
          <a:blip r:embed="img3"/>
          <a:stretch>
            <a:fillRect/>
          </a:stretch>
        </p:blipFill>
        <p:spPr>
          <a:xfrm>
            <a:off x="6485084" y="2316149"/>
            <a:ext cx="770481" cy="684872"/>
          </a:xfrm>
          <a:prstGeom prst="rect">
            <a:avLst/>
          </a:prstGeom>
        </p:spPr>
      </p:pic>
      <p:sp>
        <p:nvSpPr>
          <p:cNvPr id="31" name="Shape 31"/>
          <p:cNvSpPr/>
          <p:nvPr/>
        </p:nvSpPr>
        <p:spPr>
          <a:xfrm>
            <a:off x="10690860" y="2979420"/>
            <a:ext cx="320040" cy="502920"/>
          </a:xfrm>
          <a:prstGeom prst="rect">
            <a:avLst/>
          </a:prstGeom>
          <a:solidFill>
            <a:srgbClr val="171E31"/>
          </a:solidFill>
          <a:ln w="22860">
            <a:solidFill>
              <a:srgbClr val="73E2CE"/>
            </a:solidFill>
          </a:ln>
        </p:spPr>
      </p:sp>
      <p:sp>
        <p:nvSpPr>
          <p:cNvPr id="32" name="Shape 32"/>
          <p:cNvSpPr/>
          <p:nvPr/>
        </p:nvSpPr>
        <p:spPr>
          <a:xfrm>
            <a:off x="10770870" y="3082290"/>
            <a:ext cx="160020" cy="160020"/>
          </a:xfrm>
          <a:prstGeom prst="ellipse">
            <a:avLst/>
          </a:prstGeom>
          <a:solidFill>
            <a:srgbClr val="73E2CE"/>
          </a:solidFill>
          <a:ln>
            <a:noFill/>
          </a:ln>
        </p:spPr>
      </p:sp>
      <p:sp>
        <p:nvSpPr>
          <p:cNvPr id="33" name="Shape 33"/>
          <p:cNvSpPr/>
          <p:nvPr/>
        </p:nvSpPr>
        <p:spPr>
          <a:xfrm>
            <a:off x="10633710" y="3482340"/>
            <a:ext cx="434340" cy="102870"/>
          </a:xfrm>
          <a:prstGeom prst="rect">
            <a:avLst/>
          </a:prstGeom>
          <a:solidFill>
            <a:srgbClr val="253149"/>
          </a:solidFill>
          <a:ln>
            <a:noFill/>
          </a:ln>
        </p:spPr>
      </p:sp>
      <p:cxnSp>
        <p:nvCxnSpPr>
          <p:cNvPr id="34" name="Line 34"/>
          <p:cNvCxnSpPr/>
          <p:nvPr/>
        </p:nvCxnSpPr>
        <p:spPr>
          <a:xfrm flipH="1">
            <a:off x="9144000" y="3276600"/>
            <a:ext cx="1013460" cy="0"/>
          </a:xfrm>
          <a:prstGeom prst="line">
            <a:avLst/>
          </a:prstGeom>
          <a:ln w="45720" cap="rnd">
            <a:solidFill>
              <a:srgbClr val="FFB477"/>
            </a:solidFill>
            <a:tailEnd type="triangle" w="med" len="med"/>
          </a:ln>
        </p:spPr>
      </p:cxnSp>
      <p:sp>
        <p:nvSpPr>
          <p:cNvPr id="35" name="Shape 35"/>
          <p:cNvSpPr/>
          <p:nvPr/>
        </p:nvSpPr>
        <p:spPr>
          <a:xfrm>
            <a:off x="9525000" y="3185160"/>
            <a:ext cx="175260" cy="175260"/>
          </a:xfrm>
          <a:prstGeom prst="ellipse">
            <a:avLst/>
          </a:prstGeom>
          <a:solidFill>
            <a:srgbClr val="FFB477"/>
          </a:solidFill>
          <a:ln>
            <a:noFill/>
          </a:ln>
        </p:spPr>
      </p:sp>
      <p:sp>
        <p:nvSpPr>
          <p:cNvPr id="36" name="Shape 36"/>
          <p:cNvSpPr/>
          <p:nvPr/>
        </p:nvSpPr>
        <p:spPr>
          <a:xfrm>
            <a:off x="8793480" y="2987040"/>
            <a:ext cx="167640" cy="731520"/>
          </a:xfrm>
          <a:prstGeom prst="rect">
            <a:avLst/>
          </a:prstGeom>
          <a:solidFill>
            <a:srgbClr val="253149"/>
          </a:solidFill>
          <a:ln>
            <a:noFill/>
          </a:ln>
        </p:spPr>
      </p:sp>
      <p:sp>
        <p:nvSpPr>
          <p:cNvPr id="37" name="Shape 37"/>
          <p:cNvSpPr/>
          <p:nvPr/>
        </p:nvSpPr>
        <p:spPr>
          <a:xfrm>
            <a:off x="8755380" y="2827020"/>
            <a:ext cx="266700" cy="68580"/>
          </a:xfrm>
          <a:prstGeom prst="rect">
            <a:avLst/>
          </a:prstGeom>
          <a:solidFill>
            <a:srgbClr val="73E2CE"/>
          </a:solidFill>
          <a:ln>
            <a:noFill/>
          </a:ln>
        </p:spPr>
      </p:sp>
      <p:sp>
        <p:nvSpPr>
          <p:cNvPr id="38" name="Text 38"/>
          <p:cNvSpPr txBox="1"/>
          <p:nvPr/>
        </p:nvSpPr>
        <p:spPr>
          <a:xfrm>
            <a:off x="548640" y="5958840"/>
            <a:ext cx="11094720" cy="289560"/>
          </a:xfrm>
          <a:prstGeom prst="rect">
            <a:avLst/>
          </a:prstGeom>
          <a:noFill/>
          <a:ln>
            <a:noFill/>
          </a:ln>
        </p:spPr>
        <p:txBody>
          <a:bodyPr wrap="square" lIns="0" tIns="0" rIns="0" bIns="0" anchor="t"/>
          <a:lstStyle/>
          <a:p>
            <a:pPr algn="l">
              <a:lnSpc>
                <a:spcPct val="110000"/>
              </a:lnSpc>
              <a:spcAft>
                <a:spcPts val="0"/>
              </a:spcAft>
            </a:pPr>
            <a:r>
              <a:rPr lang="pl-PL" sz="1800" b="1" dirty="0">
                <a:solidFill>
                  <a:srgbClr val="73E2CE"/>
                </a:solidFill>
                <a:latin typeface="Lato"/>
                <a:ea typeface="Lato"/>
                <a:cs typeface="Lato"/>
              </a:rPr>
              <a:t>Przeciwnik jest częścią zagadki.</a:t>
            </a:r>
            <a:endParaRPr lang="pl-PL" sz="18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Zagrożenie staje się rozwiązaniem.">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02 / PRZYKŁAD INTERAKCJI</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Zagrożenie staje się rozwiązaniem.</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Storyboard koncepcyjny</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03</a:t>
            </a:r>
            <a:endParaRPr lang="pl-PL" sz="1200"/>
          </a:p>
        </p:txBody>
      </p:sp>
      <p:sp>
        <p:nvSpPr>
          <p:cNvPr id="9" name="Shape 9"/>
          <p:cNvSpPr/>
          <p:nvPr/>
        </p:nvSpPr>
        <p:spPr>
          <a:xfrm>
            <a:off x="548640" y="2011680"/>
            <a:ext cx="3566160" cy="2910840"/>
          </a:xfrm>
          <a:prstGeom prst="rect">
            <a:avLst/>
          </a:prstGeom>
          <a:solidFill>
            <a:srgbClr val="171E31"/>
          </a:solidFill>
          <a:ln>
            <a:noFill/>
          </a:ln>
        </p:spPr>
      </p:sp>
      <p:sp>
        <p:nvSpPr>
          <p:cNvPr id="10" name="Text 10"/>
          <p:cNvSpPr txBox="1"/>
          <p:nvPr/>
        </p:nvSpPr>
        <p:spPr>
          <a:xfrm>
            <a:off x="746760" y="2156460"/>
            <a:ext cx="3162300" cy="289560"/>
          </a:xfrm>
          <a:prstGeom prst="rect">
            <a:avLst/>
          </a:prstGeom>
          <a:noFill/>
          <a:ln>
            <a:noFill/>
          </a:ln>
        </p:spPr>
        <p:txBody>
          <a:bodyPr wrap="square" lIns="0" tIns="0" rIns="0" bIns="0" anchor="t"/>
          <a:lstStyle/>
          <a:p>
            <a:pPr algn="l">
              <a:lnSpc>
                <a:spcPct val="110000"/>
              </a:lnSpc>
              <a:spcAft>
                <a:spcPts val="0"/>
              </a:spcAft>
            </a:pPr>
            <a:r>
              <a:rPr lang="pl-PL" sz="1740" b="1" dirty="0">
                <a:solidFill>
                  <a:srgbClr val="FFB477"/>
                </a:solidFill>
                <a:latin typeface="Lato"/>
                <a:ea typeface="Lato"/>
                <a:cs typeface="Lato"/>
              </a:rPr>
              <a:t>1  Sprowokuj</a:t>
            </a:r>
            <a:endParaRPr lang="pl-PL" sz="1740"/>
          </a:p>
        </p:txBody>
      </p:sp>
      <p:sp>
        <p:nvSpPr>
          <p:cNvPr id="11" name="Shape 11"/>
          <p:cNvSpPr/>
          <p:nvPr/>
        </p:nvSpPr>
        <p:spPr>
          <a:xfrm>
            <a:off x="739140" y="4267200"/>
            <a:ext cx="3185160" cy="152400"/>
          </a:xfrm>
          <a:prstGeom prst="rect">
            <a:avLst/>
          </a:prstGeom>
          <a:solidFill>
            <a:srgbClr val="253149"/>
          </a:solidFill>
          <a:ln>
            <a:noFill/>
          </a:ln>
        </p:spPr>
      </p:sp>
      <p:sp>
        <p:nvSpPr>
          <p:cNvPr id="12" name="Shape 12"/>
          <p:cNvSpPr/>
          <p:nvPr/>
        </p:nvSpPr>
        <p:spPr>
          <a:xfrm>
            <a:off x="739140" y="4267200"/>
            <a:ext cx="3185160" cy="30480"/>
          </a:xfrm>
          <a:prstGeom prst="rect">
            <a:avLst/>
          </a:prstGeom>
          <a:solidFill>
            <a:srgbClr val="9FADC5"/>
          </a:solidFill>
          <a:ln>
            <a:noFill/>
          </a:ln>
        </p:spPr>
      </p:sp>
      <p:sp>
        <p:nvSpPr>
          <p:cNvPr id="13" name="Shape 13"/>
          <p:cNvSpPr/>
          <p:nvPr/>
        </p:nvSpPr>
        <p:spPr>
          <a:xfrm>
            <a:off x="891540" y="4343400"/>
            <a:ext cx="137160" cy="30480"/>
          </a:xfrm>
          <a:prstGeom prst="rect">
            <a:avLst/>
          </a:prstGeom>
          <a:solidFill>
            <a:srgbClr val="171E31"/>
          </a:solidFill>
          <a:ln>
            <a:noFill/>
          </a:ln>
        </p:spPr>
      </p:sp>
      <p:sp>
        <p:nvSpPr>
          <p:cNvPr id="14" name="Shape 14"/>
          <p:cNvSpPr/>
          <p:nvPr/>
        </p:nvSpPr>
        <p:spPr>
          <a:xfrm>
            <a:off x="1386840" y="4343400"/>
            <a:ext cx="137160" cy="30480"/>
          </a:xfrm>
          <a:prstGeom prst="rect">
            <a:avLst/>
          </a:prstGeom>
          <a:solidFill>
            <a:srgbClr val="171E31"/>
          </a:solidFill>
          <a:ln>
            <a:noFill/>
          </a:ln>
        </p:spPr>
      </p:sp>
      <p:sp>
        <p:nvSpPr>
          <p:cNvPr id="15" name="Shape 15"/>
          <p:cNvSpPr/>
          <p:nvPr/>
        </p:nvSpPr>
        <p:spPr>
          <a:xfrm>
            <a:off x="1882140" y="4343400"/>
            <a:ext cx="137160" cy="30480"/>
          </a:xfrm>
          <a:prstGeom prst="rect">
            <a:avLst/>
          </a:prstGeom>
          <a:solidFill>
            <a:srgbClr val="171E31"/>
          </a:solidFill>
          <a:ln>
            <a:noFill/>
          </a:ln>
        </p:spPr>
      </p:sp>
      <p:sp>
        <p:nvSpPr>
          <p:cNvPr id="16" name="Shape 16"/>
          <p:cNvSpPr/>
          <p:nvPr/>
        </p:nvSpPr>
        <p:spPr>
          <a:xfrm>
            <a:off x="2377440" y="4343400"/>
            <a:ext cx="137160" cy="30480"/>
          </a:xfrm>
          <a:prstGeom prst="rect">
            <a:avLst/>
          </a:prstGeom>
          <a:solidFill>
            <a:srgbClr val="171E31"/>
          </a:solidFill>
          <a:ln>
            <a:noFill/>
          </a:ln>
        </p:spPr>
      </p:sp>
      <p:sp>
        <p:nvSpPr>
          <p:cNvPr id="17" name="Shape 17"/>
          <p:cNvSpPr/>
          <p:nvPr/>
        </p:nvSpPr>
        <p:spPr>
          <a:xfrm>
            <a:off x="2872740" y="4343400"/>
            <a:ext cx="137160" cy="30480"/>
          </a:xfrm>
          <a:prstGeom prst="rect">
            <a:avLst/>
          </a:prstGeom>
          <a:solidFill>
            <a:srgbClr val="171E31"/>
          </a:solidFill>
          <a:ln>
            <a:noFill/>
          </a:ln>
        </p:spPr>
      </p:sp>
      <p:sp>
        <p:nvSpPr>
          <p:cNvPr id="18" name="Shape 18"/>
          <p:cNvSpPr/>
          <p:nvPr/>
        </p:nvSpPr>
        <p:spPr>
          <a:xfrm>
            <a:off x="3368040" y="4343400"/>
            <a:ext cx="137160" cy="30480"/>
          </a:xfrm>
          <a:prstGeom prst="rect">
            <a:avLst/>
          </a:prstGeom>
          <a:solidFill>
            <a:srgbClr val="171E31"/>
          </a:solidFill>
          <a:ln>
            <a:noFill/>
          </a:ln>
        </p:spPr>
      </p:sp>
      <p:pic>
        <p:nvPicPr>
          <p:cNvPr id="19" name="figma-characters/enemy.png" descr="Grafika odzyskana z Feedback mockup.make; statyczny kadr makiety."/>
          <p:cNvPicPr>
            <a:picLocks noChangeAspect="1"/>
          </p:cNvPicPr>
          <p:nvPr/>
        </p:nvPicPr>
        <p:blipFill>
          <a:blip r:embed="img1"/>
          <a:stretch>
            <a:fillRect/>
          </a:stretch>
        </p:blipFill>
        <p:spPr>
          <a:xfrm>
            <a:off x="738378" y="3535680"/>
            <a:ext cx="573329" cy="668884"/>
          </a:xfrm>
          <a:prstGeom prst="rect">
            <a:avLst/>
          </a:prstGeom>
        </p:spPr>
      </p:pic>
      <p:pic>
        <p:nvPicPr>
          <p:cNvPr id="20" name="figma-characters/player-idle.png" descr="Grafika odzyskana z Feedback mockup.make; statyczny kadr makiety."/>
          <p:cNvPicPr>
            <a:picLocks noChangeAspect="1"/>
          </p:cNvPicPr>
          <p:nvPr/>
        </p:nvPicPr>
        <p:blipFill>
          <a:blip r:embed="img2"/>
          <a:stretch>
            <a:fillRect/>
          </a:stretch>
        </p:blipFill>
        <p:spPr>
          <a:xfrm flipH="1">
            <a:off x="2590137" y="3531704"/>
            <a:ext cx="906449" cy="805732"/>
          </a:xfrm>
          <a:prstGeom prst="rect">
            <a:avLst/>
          </a:prstGeom>
        </p:spPr>
      </p:pic>
      <p:sp>
        <p:nvSpPr>
          <p:cNvPr id="21" name="Shape 21"/>
          <p:cNvSpPr/>
          <p:nvPr/>
        </p:nvSpPr>
        <p:spPr>
          <a:xfrm>
            <a:off x="2019300" y="3848100"/>
            <a:ext cx="213360" cy="335280"/>
          </a:xfrm>
          <a:prstGeom prst="rect">
            <a:avLst/>
          </a:prstGeom>
          <a:solidFill>
            <a:srgbClr val="171E31"/>
          </a:solidFill>
          <a:ln w="15240">
            <a:solidFill>
              <a:srgbClr val="9FADC5"/>
            </a:solidFill>
          </a:ln>
        </p:spPr>
      </p:sp>
      <p:sp>
        <p:nvSpPr>
          <p:cNvPr id="22" name="Shape 22"/>
          <p:cNvSpPr/>
          <p:nvPr/>
        </p:nvSpPr>
        <p:spPr>
          <a:xfrm>
            <a:off x="2072640" y="3916680"/>
            <a:ext cx="106680" cy="106680"/>
          </a:xfrm>
          <a:prstGeom prst="ellipse">
            <a:avLst/>
          </a:prstGeom>
          <a:solidFill>
            <a:srgbClr val="9FADC5"/>
          </a:solidFill>
          <a:ln>
            <a:noFill/>
          </a:ln>
        </p:spPr>
      </p:sp>
      <p:sp>
        <p:nvSpPr>
          <p:cNvPr id="23" name="Shape 23"/>
          <p:cNvSpPr/>
          <p:nvPr/>
        </p:nvSpPr>
        <p:spPr>
          <a:xfrm>
            <a:off x="1981200" y="4183380"/>
            <a:ext cx="289560" cy="68580"/>
          </a:xfrm>
          <a:prstGeom prst="rect">
            <a:avLst/>
          </a:prstGeom>
          <a:solidFill>
            <a:srgbClr val="253149"/>
          </a:solidFill>
          <a:ln>
            <a:noFill/>
          </a:ln>
        </p:spPr>
      </p:sp>
      <p:sp>
        <p:nvSpPr>
          <p:cNvPr id="24" name="Shape 24"/>
          <p:cNvSpPr/>
          <p:nvPr/>
        </p:nvSpPr>
        <p:spPr>
          <a:xfrm>
            <a:off x="3604260" y="3345180"/>
            <a:ext cx="91440" cy="922020"/>
          </a:xfrm>
          <a:prstGeom prst="rect">
            <a:avLst/>
          </a:prstGeom>
          <a:solidFill>
            <a:srgbClr val="253149"/>
          </a:solidFill>
          <a:ln>
            <a:noFill/>
          </a:ln>
        </p:spPr>
      </p:sp>
      <p:sp>
        <p:nvSpPr>
          <p:cNvPr id="25" name="Shape 25"/>
          <p:cNvSpPr/>
          <p:nvPr/>
        </p:nvSpPr>
        <p:spPr>
          <a:xfrm>
            <a:off x="3520440" y="3230880"/>
            <a:ext cx="266700" cy="91440"/>
          </a:xfrm>
          <a:prstGeom prst="rect">
            <a:avLst/>
          </a:prstGeom>
          <a:solidFill>
            <a:srgbClr val="9FADC5"/>
          </a:solidFill>
          <a:ln>
            <a:noFill/>
          </a:ln>
        </p:spPr>
      </p:sp>
      <p:sp>
        <p:nvSpPr>
          <p:cNvPr id="26" name="Shape 26"/>
          <p:cNvSpPr/>
          <p:nvPr/>
        </p:nvSpPr>
        <p:spPr>
          <a:xfrm>
            <a:off x="3535680" y="3383280"/>
            <a:ext cx="213360" cy="883920"/>
          </a:xfrm>
          <a:prstGeom prst="rect">
            <a:avLst/>
          </a:prstGeom>
          <a:solidFill>
            <a:srgbClr val="9FADC5"/>
          </a:solidFill>
          <a:ln>
            <a:noFill/>
          </a:ln>
        </p:spPr>
      </p:sp>
      <p:cxnSp>
        <p:nvCxnSpPr>
          <p:cNvPr id="27" name="Line 27"/>
          <p:cNvCxnSpPr/>
          <p:nvPr/>
        </p:nvCxnSpPr>
        <p:spPr>
          <a:xfrm>
            <a:off x="1394460" y="3947160"/>
            <a:ext cx="1287780" cy="0"/>
          </a:xfrm>
          <a:prstGeom prst="line">
            <a:avLst/>
          </a:prstGeom>
          <a:ln w="38100" cap="rnd">
            <a:solidFill>
              <a:srgbClr val="FFB477"/>
            </a:solidFill>
            <a:tailEnd type="triangle" w="med" len="med"/>
          </a:ln>
        </p:spPr>
      </p:cxnSp>
      <p:sp>
        <p:nvSpPr>
          <p:cNvPr id="28" name="Shape 28"/>
          <p:cNvSpPr/>
          <p:nvPr/>
        </p:nvSpPr>
        <p:spPr>
          <a:xfrm>
            <a:off x="2491740" y="3870960"/>
            <a:ext cx="137160" cy="137160"/>
          </a:xfrm>
          <a:prstGeom prst="ellipse">
            <a:avLst/>
          </a:prstGeom>
          <a:solidFill>
            <a:srgbClr val="FFB477"/>
          </a:solidFill>
          <a:ln>
            <a:noFill/>
          </a:ln>
        </p:spPr>
      </p:sp>
      <p:sp>
        <p:nvSpPr>
          <p:cNvPr id="29" name="Text 29"/>
          <p:cNvSpPr txBox="1"/>
          <p:nvPr/>
        </p:nvSpPr>
        <p:spPr>
          <a:xfrm>
            <a:off x="746760" y="5173980"/>
            <a:ext cx="3192780" cy="70104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F1F4FC"/>
                </a:solidFill>
                <a:latin typeface="Lato"/>
                <a:ea typeface="Lato"/>
                <a:cs typeface="Lato"/>
              </a:rPr>
              <a:t>Obserwujesz atak</a:t>
            </a:r>
            <a:endParaRPr lang="pl-PL" sz="1740"/>
          </a:p>
          <a:p>
            <a:pPr algn="l">
              <a:lnSpc>
                <a:spcPct val="110000"/>
              </a:lnSpc>
              <a:spcAft>
                <a:spcPts val="0"/>
              </a:spcAft>
            </a:pPr>
            <a:r>
              <a:rPr lang="pl-PL" sz="1740" b="0" dirty="0">
                <a:solidFill>
                  <a:srgbClr val="F1F4FC"/>
                </a:solidFill>
                <a:latin typeface="Lato"/>
                <a:ea typeface="Lato"/>
                <a:cs typeface="Lato"/>
              </a:rPr>
              <a:t>i wybierasz moment.</a:t>
            </a:r>
            <a:endParaRPr lang="pl-PL" sz="1740"/>
          </a:p>
        </p:txBody>
      </p:sp>
      <p:sp>
        <p:nvSpPr>
          <p:cNvPr id="30" name="Shape 30"/>
          <p:cNvSpPr/>
          <p:nvPr/>
        </p:nvSpPr>
        <p:spPr>
          <a:xfrm>
            <a:off x="4312920" y="2011680"/>
            <a:ext cx="3566160" cy="2910840"/>
          </a:xfrm>
          <a:prstGeom prst="rect">
            <a:avLst/>
          </a:prstGeom>
          <a:solidFill>
            <a:srgbClr val="171E31"/>
          </a:solidFill>
          <a:ln>
            <a:noFill/>
          </a:ln>
        </p:spPr>
      </p:sp>
      <p:sp>
        <p:nvSpPr>
          <p:cNvPr id="31" name="Text 31"/>
          <p:cNvSpPr txBox="1"/>
          <p:nvPr/>
        </p:nvSpPr>
        <p:spPr>
          <a:xfrm>
            <a:off x="4511040" y="2156460"/>
            <a:ext cx="3162300" cy="289560"/>
          </a:xfrm>
          <a:prstGeom prst="rect">
            <a:avLst/>
          </a:prstGeom>
          <a:noFill/>
          <a:ln>
            <a:noFill/>
          </a:ln>
        </p:spPr>
        <p:txBody>
          <a:bodyPr wrap="square" lIns="0" tIns="0" rIns="0" bIns="0" anchor="t"/>
          <a:lstStyle/>
          <a:p>
            <a:pPr algn="l">
              <a:lnSpc>
                <a:spcPct val="110000"/>
              </a:lnSpc>
              <a:spcAft>
                <a:spcPts val="0"/>
              </a:spcAft>
            </a:pPr>
            <a:r>
              <a:rPr lang="pl-PL" sz="1740" b="1" dirty="0">
                <a:solidFill>
                  <a:srgbClr val="73E2CE"/>
                </a:solidFill>
                <a:latin typeface="Lato"/>
                <a:ea typeface="Lato"/>
                <a:cs typeface="Lato"/>
              </a:rPr>
              <a:t>2  Sparuj</a:t>
            </a:r>
            <a:endParaRPr lang="pl-PL" sz="1740"/>
          </a:p>
        </p:txBody>
      </p:sp>
      <p:sp>
        <p:nvSpPr>
          <p:cNvPr id="32" name="Shape 32"/>
          <p:cNvSpPr/>
          <p:nvPr/>
        </p:nvSpPr>
        <p:spPr>
          <a:xfrm>
            <a:off x="4503420" y="4267200"/>
            <a:ext cx="3185160" cy="152400"/>
          </a:xfrm>
          <a:prstGeom prst="rect">
            <a:avLst/>
          </a:prstGeom>
          <a:solidFill>
            <a:srgbClr val="253149"/>
          </a:solidFill>
          <a:ln>
            <a:noFill/>
          </a:ln>
        </p:spPr>
      </p:sp>
      <p:sp>
        <p:nvSpPr>
          <p:cNvPr id="33" name="Shape 33"/>
          <p:cNvSpPr/>
          <p:nvPr/>
        </p:nvSpPr>
        <p:spPr>
          <a:xfrm>
            <a:off x="4503420" y="4267200"/>
            <a:ext cx="3185160" cy="30480"/>
          </a:xfrm>
          <a:prstGeom prst="rect">
            <a:avLst/>
          </a:prstGeom>
          <a:solidFill>
            <a:srgbClr val="9FADC5"/>
          </a:solidFill>
          <a:ln>
            <a:noFill/>
          </a:ln>
        </p:spPr>
      </p:sp>
      <p:sp>
        <p:nvSpPr>
          <p:cNvPr id="34" name="Shape 34"/>
          <p:cNvSpPr/>
          <p:nvPr/>
        </p:nvSpPr>
        <p:spPr>
          <a:xfrm>
            <a:off x="4655820" y="4343400"/>
            <a:ext cx="137160" cy="30480"/>
          </a:xfrm>
          <a:prstGeom prst="rect">
            <a:avLst/>
          </a:prstGeom>
          <a:solidFill>
            <a:srgbClr val="171E31"/>
          </a:solidFill>
          <a:ln>
            <a:noFill/>
          </a:ln>
        </p:spPr>
      </p:sp>
      <p:sp>
        <p:nvSpPr>
          <p:cNvPr id="35" name="Shape 35"/>
          <p:cNvSpPr/>
          <p:nvPr/>
        </p:nvSpPr>
        <p:spPr>
          <a:xfrm>
            <a:off x="5151120" y="4343400"/>
            <a:ext cx="137160" cy="30480"/>
          </a:xfrm>
          <a:prstGeom prst="rect">
            <a:avLst/>
          </a:prstGeom>
          <a:solidFill>
            <a:srgbClr val="171E31"/>
          </a:solidFill>
          <a:ln>
            <a:noFill/>
          </a:ln>
        </p:spPr>
      </p:sp>
      <p:sp>
        <p:nvSpPr>
          <p:cNvPr id="36" name="Shape 36"/>
          <p:cNvSpPr/>
          <p:nvPr/>
        </p:nvSpPr>
        <p:spPr>
          <a:xfrm>
            <a:off x="5646420" y="4343400"/>
            <a:ext cx="137160" cy="30480"/>
          </a:xfrm>
          <a:prstGeom prst="rect">
            <a:avLst/>
          </a:prstGeom>
          <a:solidFill>
            <a:srgbClr val="171E31"/>
          </a:solidFill>
          <a:ln>
            <a:noFill/>
          </a:ln>
        </p:spPr>
      </p:sp>
      <p:sp>
        <p:nvSpPr>
          <p:cNvPr id="37" name="Shape 37"/>
          <p:cNvSpPr/>
          <p:nvPr/>
        </p:nvSpPr>
        <p:spPr>
          <a:xfrm>
            <a:off x="6141720" y="4343400"/>
            <a:ext cx="137160" cy="30480"/>
          </a:xfrm>
          <a:prstGeom prst="rect">
            <a:avLst/>
          </a:prstGeom>
          <a:solidFill>
            <a:srgbClr val="171E31"/>
          </a:solidFill>
          <a:ln>
            <a:noFill/>
          </a:ln>
        </p:spPr>
      </p:sp>
      <p:sp>
        <p:nvSpPr>
          <p:cNvPr id="38" name="Shape 38"/>
          <p:cNvSpPr/>
          <p:nvPr/>
        </p:nvSpPr>
        <p:spPr>
          <a:xfrm>
            <a:off x="6637020" y="4343400"/>
            <a:ext cx="137160" cy="30480"/>
          </a:xfrm>
          <a:prstGeom prst="rect">
            <a:avLst/>
          </a:prstGeom>
          <a:solidFill>
            <a:srgbClr val="171E31"/>
          </a:solidFill>
          <a:ln>
            <a:noFill/>
          </a:ln>
        </p:spPr>
      </p:sp>
      <p:sp>
        <p:nvSpPr>
          <p:cNvPr id="39" name="Shape 39"/>
          <p:cNvSpPr/>
          <p:nvPr/>
        </p:nvSpPr>
        <p:spPr>
          <a:xfrm>
            <a:off x="7132320" y="4343400"/>
            <a:ext cx="137160" cy="30480"/>
          </a:xfrm>
          <a:prstGeom prst="rect">
            <a:avLst/>
          </a:prstGeom>
          <a:solidFill>
            <a:srgbClr val="171E31"/>
          </a:solidFill>
          <a:ln>
            <a:noFill/>
          </a:ln>
        </p:spPr>
      </p:sp>
      <p:pic>
        <p:nvPicPr>
          <p:cNvPr id="40" name="figma-characters/enemy.png" descr="Grafika odzyskana z Feedback mockup.make; statyczny kadr makiety."/>
          <p:cNvPicPr>
            <a:picLocks noChangeAspect="1"/>
          </p:cNvPicPr>
          <p:nvPr/>
        </p:nvPicPr>
        <p:blipFill>
          <a:blip r:embed="img3"/>
          <a:stretch>
            <a:fillRect/>
          </a:stretch>
        </p:blipFill>
        <p:spPr>
          <a:xfrm>
            <a:off x="4502658" y="3535680"/>
            <a:ext cx="573329" cy="668884"/>
          </a:xfrm>
          <a:prstGeom prst="rect">
            <a:avLst/>
          </a:prstGeom>
        </p:spPr>
      </p:pic>
      <p:pic>
        <p:nvPicPr>
          <p:cNvPr id="41" name="figma-characters/player-parry.png" descr="Grafika odzyskana z Feedback mockup.make; statyczny kadr makiety."/>
          <p:cNvPicPr>
            <a:picLocks noChangeAspect="1"/>
          </p:cNvPicPr>
          <p:nvPr/>
        </p:nvPicPr>
        <p:blipFill>
          <a:blip r:embed="img4"/>
          <a:stretch>
            <a:fillRect/>
          </a:stretch>
        </p:blipFill>
        <p:spPr>
          <a:xfrm flipH="1">
            <a:off x="6354417" y="3531704"/>
            <a:ext cx="906449" cy="805732"/>
          </a:xfrm>
          <a:prstGeom prst="rect">
            <a:avLst/>
          </a:prstGeom>
        </p:spPr>
      </p:pic>
      <p:sp>
        <p:nvSpPr>
          <p:cNvPr id="42" name="Shape 42"/>
          <p:cNvSpPr/>
          <p:nvPr/>
        </p:nvSpPr>
        <p:spPr>
          <a:xfrm>
            <a:off x="5783580" y="3848100"/>
            <a:ext cx="213360" cy="335280"/>
          </a:xfrm>
          <a:prstGeom prst="rect">
            <a:avLst/>
          </a:prstGeom>
          <a:solidFill>
            <a:srgbClr val="171E31"/>
          </a:solidFill>
          <a:ln w="15240">
            <a:solidFill>
              <a:srgbClr val="9FADC5"/>
            </a:solidFill>
          </a:ln>
        </p:spPr>
      </p:sp>
      <p:sp>
        <p:nvSpPr>
          <p:cNvPr id="43" name="Shape 43"/>
          <p:cNvSpPr/>
          <p:nvPr/>
        </p:nvSpPr>
        <p:spPr>
          <a:xfrm>
            <a:off x="5836920" y="3916680"/>
            <a:ext cx="106680" cy="106680"/>
          </a:xfrm>
          <a:prstGeom prst="ellipse">
            <a:avLst/>
          </a:prstGeom>
          <a:solidFill>
            <a:srgbClr val="9FADC5"/>
          </a:solidFill>
          <a:ln>
            <a:noFill/>
          </a:ln>
        </p:spPr>
      </p:sp>
      <p:sp>
        <p:nvSpPr>
          <p:cNvPr id="44" name="Shape 44"/>
          <p:cNvSpPr/>
          <p:nvPr/>
        </p:nvSpPr>
        <p:spPr>
          <a:xfrm>
            <a:off x="5745480" y="4183380"/>
            <a:ext cx="289560" cy="68580"/>
          </a:xfrm>
          <a:prstGeom prst="rect">
            <a:avLst/>
          </a:prstGeom>
          <a:solidFill>
            <a:srgbClr val="253149"/>
          </a:solidFill>
          <a:ln>
            <a:noFill/>
          </a:ln>
        </p:spPr>
      </p:sp>
      <p:sp>
        <p:nvSpPr>
          <p:cNvPr id="45" name="Shape 45"/>
          <p:cNvSpPr/>
          <p:nvPr/>
        </p:nvSpPr>
        <p:spPr>
          <a:xfrm>
            <a:off x="7368540" y="3345180"/>
            <a:ext cx="91440" cy="922020"/>
          </a:xfrm>
          <a:prstGeom prst="rect">
            <a:avLst/>
          </a:prstGeom>
          <a:solidFill>
            <a:srgbClr val="253149"/>
          </a:solidFill>
          <a:ln>
            <a:noFill/>
          </a:ln>
        </p:spPr>
      </p:sp>
      <p:sp>
        <p:nvSpPr>
          <p:cNvPr id="46" name="Shape 46"/>
          <p:cNvSpPr/>
          <p:nvPr/>
        </p:nvSpPr>
        <p:spPr>
          <a:xfrm>
            <a:off x="7284720" y="3230880"/>
            <a:ext cx="266700" cy="91440"/>
          </a:xfrm>
          <a:prstGeom prst="rect">
            <a:avLst/>
          </a:prstGeom>
          <a:solidFill>
            <a:srgbClr val="9FADC5"/>
          </a:solidFill>
          <a:ln>
            <a:noFill/>
          </a:ln>
        </p:spPr>
      </p:sp>
      <p:sp>
        <p:nvSpPr>
          <p:cNvPr id="47" name="Shape 47"/>
          <p:cNvSpPr/>
          <p:nvPr/>
        </p:nvSpPr>
        <p:spPr>
          <a:xfrm>
            <a:off x="7299960" y="3383280"/>
            <a:ext cx="213360" cy="883920"/>
          </a:xfrm>
          <a:prstGeom prst="rect">
            <a:avLst/>
          </a:prstGeom>
          <a:solidFill>
            <a:srgbClr val="9FADC5"/>
          </a:solidFill>
          <a:ln>
            <a:noFill/>
          </a:ln>
        </p:spPr>
      </p:sp>
      <p:cxnSp>
        <p:nvCxnSpPr>
          <p:cNvPr id="48" name="Line 48"/>
          <p:cNvCxnSpPr/>
          <p:nvPr/>
        </p:nvCxnSpPr>
        <p:spPr>
          <a:xfrm flipH="1">
            <a:off x="6126480" y="3947160"/>
            <a:ext cx="358140" cy="0"/>
          </a:xfrm>
          <a:prstGeom prst="line">
            <a:avLst/>
          </a:prstGeom>
          <a:ln w="38100" cap="rnd">
            <a:solidFill>
              <a:srgbClr val="73E2CE"/>
            </a:solidFill>
            <a:tailEnd type="triangle" w="med" len="med"/>
          </a:ln>
        </p:spPr>
      </p:cxnSp>
      <p:sp>
        <p:nvSpPr>
          <p:cNvPr id="49" name="Shape 49"/>
          <p:cNvSpPr/>
          <p:nvPr/>
        </p:nvSpPr>
        <p:spPr>
          <a:xfrm>
            <a:off x="6316980" y="3863340"/>
            <a:ext cx="152400" cy="152400"/>
          </a:xfrm>
          <a:prstGeom prst="ellipse">
            <a:avLst/>
          </a:prstGeom>
          <a:solidFill>
            <a:srgbClr val="73E2CE"/>
          </a:solidFill>
          <a:ln>
            <a:noFill/>
          </a:ln>
        </p:spPr>
      </p:sp>
      <p:sp>
        <p:nvSpPr>
          <p:cNvPr id="50" name="Text 50"/>
          <p:cNvSpPr txBox="1"/>
          <p:nvPr/>
        </p:nvSpPr>
        <p:spPr>
          <a:xfrm>
            <a:off x="4511040" y="5173980"/>
            <a:ext cx="3192780" cy="70104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F1F4FC"/>
                </a:solidFill>
                <a:latin typeface="Lato"/>
                <a:ea typeface="Lato"/>
                <a:cs typeface="Lato"/>
              </a:rPr>
              <a:t>Odbijasz pocisk</a:t>
            </a:r>
            <a:endParaRPr lang="pl-PL" sz="1740"/>
          </a:p>
          <a:p>
            <a:pPr algn="l">
              <a:lnSpc>
                <a:spcPct val="110000"/>
              </a:lnSpc>
              <a:spcAft>
                <a:spcPts val="0"/>
              </a:spcAft>
            </a:pPr>
            <a:r>
              <a:rPr lang="pl-PL" sz="1740" b="0" dirty="0">
                <a:solidFill>
                  <a:srgbClr val="F1F4FC"/>
                </a:solidFill>
                <a:latin typeface="Lato"/>
                <a:ea typeface="Lato"/>
                <a:cs typeface="Lato"/>
              </a:rPr>
              <a:t>w stronę przełącznika.</a:t>
            </a:r>
            <a:endParaRPr lang="pl-PL" sz="1740"/>
          </a:p>
        </p:txBody>
      </p:sp>
      <p:sp>
        <p:nvSpPr>
          <p:cNvPr id="51" name="Shape 51"/>
          <p:cNvSpPr/>
          <p:nvPr/>
        </p:nvSpPr>
        <p:spPr>
          <a:xfrm>
            <a:off x="8077200" y="2011680"/>
            <a:ext cx="3566160" cy="2910840"/>
          </a:xfrm>
          <a:prstGeom prst="rect">
            <a:avLst/>
          </a:prstGeom>
          <a:solidFill>
            <a:srgbClr val="171E31"/>
          </a:solidFill>
          <a:ln>
            <a:noFill/>
          </a:ln>
        </p:spPr>
      </p:sp>
      <p:sp>
        <p:nvSpPr>
          <p:cNvPr id="52" name="Text 52"/>
          <p:cNvSpPr txBox="1"/>
          <p:nvPr/>
        </p:nvSpPr>
        <p:spPr>
          <a:xfrm>
            <a:off x="8275320" y="2156460"/>
            <a:ext cx="3162300" cy="289560"/>
          </a:xfrm>
          <a:prstGeom prst="rect">
            <a:avLst/>
          </a:prstGeom>
          <a:noFill/>
          <a:ln>
            <a:noFill/>
          </a:ln>
        </p:spPr>
        <p:txBody>
          <a:bodyPr wrap="square" lIns="0" tIns="0" rIns="0" bIns="0" anchor="t"/>
          <a:lstStyle/>
          <a:p>
            <a:pPr algn="l">
              <a:lnSpc>
                <a:spcPct val="110000"/>
              </a:lnSpc>
              <a:spcAft>
                <a:spcPts val="0"/>
              </a:spcAft>
            </a:pPr>
            <a:r>
              <a:rPr lang="pl-PL" sz="1740" b="1" dirty="0">
                <a:solidFill>
                  <a:srgbClr val="A79AFF"/>
                </a:solidFill>
                <a:latin typeface="Lato"/>
                <a:ea typeface="Lato"/>
                <a:cs typeface="Lato"/>
              </a:rPr>
              <a:t>3  Przejdź</a:t>
            </a:r>
            <a:endParaRPr lang="pl-PL" sz="1740"/>
          </a:p>
        </p:txBody>
      </p:sp>
      <p:sp>
        <p:nvSpPr>
          <p:cNvPr id="53" name="Shape 53"/>
          <p:cNvSpPr/>
          <p:nvPr/>
        </p:nvSpPr>
        <p:spPr>
          <a:xfrm>
            <a:off x="8267700" y="4267200"/>
            <a:ext cx="3185160" cy="152400"/>
          </a:xfrm>
          <a:prstGeom prst="rect">
            <a:avLst/>
          </a:prstGeom>
          <a:solidFill>
            <a:srgbClr val="253149"/>
          </a:solidFill>
          <a:ln>
            <a:noFill/>
          </a:ln>
        </p:spPr>
      </p:sp>
      <p:sp>
        <p:nvSpPr>
          <p:cNvPr id="54" name="Shape 54"/>
          <p:cNvSpPr/>
          <p:nvPr/>
        </p:nvSpPr>
        <p:spPr>
          <a:xfrm>
            <a:off x="8267700" y="4267200"/>
            <a:ext cx="3185160" cy="30480"/>
          </a:xfrm>
          <a:prstGeom prst="rect">
            <a:avLst/>
          </a:prstGeom>
          <a:solidFill>
            <a:srgbClr val="9FADC5"/>
          </a:solidFill>
          <a:ln>
            <a:noFill/>
          </a:ln>
        </p:spPr>
      </p:sp>
      <p:sp>
        <p:nvSpPr>
          <p:cNvPr id="55" name="Shape 55"/>
          <p:cNvSpPr/>
          <p:nvPr/>
        </p:nvSpPr>
        <p:spPr>
          <a:xfrm>
            <a:off x="8420100" y="4343400"/>
            <a:ext cx="137160" cy="30480"/>
          </a:xfrm>
          <a:prstGeom prst="rect">
            <a:avLst/>
          </a:prstGeom>
          <a:solidFill>
            <a:srgbClr val="171E31"/>
          </a:solidFill>
          <a:ln>
            <a:noFill/>
          </a:ln>
        </p:spPr>
      </p:sp>
      <p:sp>
        <p:nvSpPr>
          <p:cNvPr id="56" name="Shape 56"/>
          <p:cNvSpPr/>
          <p:nvPr/>
        </p:nvSpPr>
        <p:spPr>
          <a:xfrm>
            <a:off x="8915400" y="4343400"/>
            <a:ext cx="137160" cy="30480"/>
          </a:xfrm>
          <a:prstGeom prst="rect">
            <a:avLst/>
          </a:prstGeom>
          <a:solidFill>
            <a:srgbClr val="171E31"/>
          </a:solidFill>
          <a:ln>
            <a:noFill/>
          </a:ln>
        </p:spPr>
      </p:sp>
      <p:sp>
        <p:nvSpPr>
          <p:cNvPr id="57" name="Shape 57"/>
          <p:cNvSpPr/>
          <p:nvPr/>
        </p:nvSpPr>
        <p:spPr>
          <a:xfrm>
            <a:off x="9410700" y="4343400"/>
            <a:ext cx="137160" cy="30480"/>
          </a:xfrm>
          <a:prstGeom prst="rect">
            <a:avLst/>
          </a:prstGeom>
          <a:solidFill>
            <a:srgbClr val="171E31"/>
          </a:solidFill>
          <a:ln>
            <a:noFill/>
          </a:ln>
        </p:spPr>
      </p:sp>
      <p:sp>
        <p:nvSpPr>
          <p:cNvPr id="58" name="Shape 58"/>
          <p:cNvSpPr/>
          <p:nvPr/>
        </p:nvSpPr>
        <p:spPr>
          <a:xfrm>
            <a:off x="9906000" y="4343400"/>
            <a:ext cx="137160" cy="30480"/>
          </a:xfrm>
          <a:prstGeom prst="rect">
            <a:avLst/>
          </a:prstGeom>
          <a:solidFill>
            <a:srgbClr val="171E31"/>
          </a:solidFill>
          <a:ln>
            <a:noFill/>
          </a:ln>
        </p:spPr>
      </p:sp>
      <p:sp>
        <p:nvSpPr>
          <p:cNvPr id="59" name="Shape 59"/>
          <p:cNvSpPr/>
          <p:nvPr/>
        </p:nvSpPr>
        <p:spPr>
          <a:xfrm>
            <a:off x="10401300" y="4343400"/>
            <a:ext cx="137160" cy="30480"/>
          </a:xfrm>
          <a:prstGeom prst="rect">
            <a:avLst/>
          </a:prstGeom>
          <a:solidFill>
            <a:srgbClr val="171E31"/>
          </a:solidFill>
          <a:ln>
            <a:noFill/>
          </a:ln>
        </p:spPr>
      </p:sp>
      <p:sp>
        <p:nvSpPr>
          <p:cNvPr id="60" name="Shape 60"/>
          <p:cNvSpPr/>
          <p:nvPr/>
        </p:nvSpPr>
        <p:spPr>
          <a:xfrm>
            <a:off x="10896600" y="4343400"/>
            <a:ext cx="137160" cy="30480"/>
          </a:xfrm>
          <a:prstGeom prst="rect">
            <a:avLst/>
          </a:prstGeom>
          <a:solidFill>
            <a:srgbClr val="171E31"/>
          </a:solidFill>
          <a:ln>
            <a:noFill/>
          </a:ln>
        </p:spPr>
      </p:sp>
      <p:pic>
        <p:nvPicPr>
          <p:cNvPr id="61" name="figma-characters/enemy.png" descr="Grafika odzyskana z Feedback mockup.make; statyczny kadr makiety."/>
          <p:cNvPicPr>
            <a:picLocks noChangeAspect="1"/>
          </p:cNvPicPr>
          <p:nvPr/>
        </p:nvPicPr>
        <p:blipFill>
          <a:blip r:embed="img5"/>
          <a:stretch>
            <a:fillRect/>
          </a:stretch>
        </p:blipFill>
        <p:spPr>
          <a:xfrm>
            <a:off x="8266938" y="3535680"/>
            <a:ext cx="573329" cy="668884"/>
          </a:xfrm>
          <a:prstGeom prst="rect">
            <a:avLst/>
          </a:prstGeom>
        </p:spPr>
      </p:pic>
      <p:pic>
        <p:nvPicPr>
          <p:cNvPr id="62" name="figma-characters/player-idle.png" descr="Grafika odzyskana z Feedback mockup.make; statyczny kadr makiety."/>
          <p:cNvPicPr>
            <a:picLocks noChangeAspect="1"/>
          </p:cNvPicPr>
          <p:nvPr/>
        </p:nvPicPr>
        <p:blipFill>
          <a:blip r:embed="img6"/>
          <a:stretch>
            <a:fillRect/>
          </a:stretch>
        </p:blipFill>
        <p:spPr>
          <a:xfrm flipH="1">
            <a:off x="10118697" y="3531704"/>
            <a:ext cx="906449" cy="805732"/>
          </a:xfrm>
          <a:prstGeom prst="rect">
            <a:avLst/>
          </a:prstGeom>
        </p:spPr>
      </p:pic>
      <p:sp>
        <p:nvSpPr>
          <p:cNvPr id="63" name="Shape 63"/>
          <p:cNvSpPr/>
          <p:nvPr/>
        </p:nvSpPr>
        <p:spPr>
          <a:xfrm>
            <a:off x="9547860" y="3848100"/>
            <a:ext cx="213360" cy="335280"/>
          </a:xfrm>
          <a:prstGeom prst="rect">
            <a:avLst/>
          </a:prstGeom>
          <a:solidFill>
            <a:srgbClr val="171E31"/>
          </a:solidFill>
          <a:ln w="15240">
            <a:solidFill>
              <a:srgbClr val="73E2CE"/>
            </a:solidFill>
          </a:ln>
        </p:spPr>
      </p:sp>
      <p:sp>
        <p:nvSpPr>
          <p:cNvPr id="64" name="Shape 64"/>
          <p:cNvSpPr/>
          <p:nvPr/>
        </p:nvSpPr>
        <p:spPr>
          <a:xfrm>
            <a:off x="9601200" y="3916680"/>
            <a:ext cx="106680" cy="106680"/>
          </a:xfrm>
          <a:prstGeom prst="ellipse">
            <a:avLst/>
          </a:prstGeom>
          <a:solidFill>
            <a:srgbClr val="73E2CE"/>
          </a:solidFill>
          <a:ln>
            <a:noFill/>
          </a:ln>
        </p:spPr>
      </p:sp>
      <p:sp>
        <p:nvSpPr>
          <p:cNvPr id="65" name="Shape 65"/>
          <p:cNvSpPr/>
          <p:nvPr/>
        </p:nvSpPr>
        <p:spPr>
          <a:xfrm>
            <a:off x="9509760" y="4183380"/>
            <a:ext cx="289560" cy="68580"/>
          </a:xfrm>
          <a:prstGeom prst="rect">
            <a:avLst/>
          </a:prstGeom>
          <a:solidFill>
            <a:srgbClr val="253149"/>
          </a:solidFill>
          <a:ln>
            <a:noFill/>
          </a:ln>
        </p:spPr>
      </p:sp>
      <p:sp>
        <p:nvSpPr>
          <p:cNvPr id="66" name="Shape 66"/>
          <p:cNvSpPr/>
          <p:nvPr/>
        </p:nvSpPr>
        <p:spPr>
          <a:xfrm>
            <a:off x="11132820" y="3345180"/>
            <a:ext cx="91440" cy="922020"/>
          </a:xfrm>
          <a:prstGeom prst="rect">
            <a:avLst/>
          </a:prstGeom>
          <a:solidFill>
            <a:srgbClr val="253149"/>
          </a:solidFill>
          <a:ln>
            <a:noFill/>
          </a:ln>
        </p:spPr>
      </p:sp>
      <p:sp>
        <p:nvSpPr>
          <p:cNvPr id="67" name="Shape 67"/>
          <p:cNvSpPr/>
          <p:nvPr/>
        </p:nvSpPr>
        <p:spPr>
          <a:xfrm>
            <a:off x="11049000" y="3230880"/>
            <a:ext cx="266700" cy="91440"/>
          </a:xfrm>
          <a:prstGeom prst="rect">
            <a:avLst/>
          </a:prstGeom>
          <a:solidFill>
            <a:srgbClr val="73E2CE"/>
          </a:solidFill>
          <a:ln>
            <a:noFill/>
          </a:ln>
        </p:spPr>
      </p:sp>
      <p:cxnSp>
        <p:nvCxnSpPr>
          <p:cNvPr id="68" name="Line 68"/>
          <p:cNvCxnSpPr/>
          <p:nvPr/>
        </p:nvCxnSpPr>
        <p:spPr>
          <a:xfrm>
            <a:off x="11140440" y="3444240"/>
            <a:ext cx="0" cy="83820"/>
          </a:xfrm>
          <a:prstGeom prst="line">
            <a:avLst/>
          </a:prstGeom>
          <a:ln w="15240" cap="rnd">
            <a:solidFill>
              <a:srgbClr val="73E2CE"/>
            </a:solidFill>
          </a:ln>
        </p:spPr>
      </p:cxnSp>
      <p:cxnSp>
        <p:nvCxnSpPr>
          <p:cNvPr id="69" name="Line 69"/>
          <p:cNvCxnSpPr/>
          <p:nvPr/>
        </p:nvCxnSpPr>
        <p:spPr>
          <a:xfrm>
            <a:off x="11140440" y="3634740"/>
            <a:ext cx="0" cy="83820"/>
          </a:xfrm>
          <a:prstGeom prst="line">
            <a:avLst/>
          </a:prstGeom>
          <a:ln w="15240" cap="rnd">
            <a:solidFill>
              <a:srgbClr val="73E2CE"/>
            </a:solidFill>
          </a:ln>
        </p:spPr>
      </p:cxnSp>
      <p:cxnSp>
        <p:nvCxnSpPr>
          <p:cNvPr id="70" name="Line 70"/>
          <p:cNvCxnSpPr/>
          <p:nvPr/>
        </p:nvCxnSpPr>
        <p:spPr>
          <a:xfrm>
            <a:off x="11140440" y="3825240"/>
            <a:ext cx="0" cy="83820"/>
          </a:xfrm>
          <a:prstGeom prst="line">
            <a:avLst/>
          </a:prstGeom>
          <a:ln w="15240" cap="rnd">
            <a:solidFill>
              <a:srgbClr val="73E2CE"/>
            </a:solidFill>
          </a:ln>
        </p:spPr>
      </p:cxnSp>
      <p:cxnSp>
        <p:nvCxnSpPr>
          <p:cNvPr id="71" name="Line 71"/>
          <p:cNvCxnSpPr/>
          <p:nvPr/>
        </p:nvCxnSpPr>
        <p:spPr>
          <a:xfrm>
            <a:off x="11140440" y="4015740"/>
            <a:ext cx="0" cy="83820"/>
          </a:xfrm>
          <a:prstGeom prst="line">
            <a:avLst/>
          </a:prstGeom>
          <a:ln w="15240" cap="rnd">
            <a:solidFill>
              <a:srgbClr val="73E2CE"/>
            </a:solidFill>
          </a:ln>
        </p:spPr>
      </p:cxnSp>
      <p:cxnSp>
        <p:nvCxnSpPr>
          <p:cNvPr id="72" name="Line 72"/>
          <p:cNvCxnSpPr/>
          <p:nvPr/>
        </p:nvCxnSpPr>
        <p:spPr>
          <a:xfrm>
            <a:off x="10774680" y="4572000"/>
            <a:ext cx="533400" cy="0"/>
          </a:xfrm>
          <a:prstGeom prst="line">
            <a:avLst/>
          </a:prstGeom>
          <a:ln w="38100" cap="rnd">
            <a:solidFill>
              <a:srgbClr val="A79AFF"/>
            </a:solidFill>
            <a:tailEnd type="triangle" w="med" len="med"/>
          </a:ln>
        </p:spPr>
      </p:cxnSp>
      <p:sp>
        <p:nvSpPr>
          <p:cNvPr id="73" name="Text 73"/>
          <p:cNvSpPr txBox="1"/>
          <p:nvPr/>
        </p:nvSpPr>
        <p:spPr>
          <a:xfrm>
            <a:off x="8275320" y="5173980"/>
            <a:ext cx="3192780" cy="70104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F1F4FC"/>
                </a:solidFill>
                <a:latin typeface="Lato"/>
                <a:ea typeface="Lato"/>
                <a:cs typeface="Lato"/>
              </a:rPr>
              <a:t>Przełącznik otwiera drzwi.</a:t>
            </a:r>
            <a:endParaRPr lang="pl-PL" sz="1740"/>
          </a:p>
          <a:p>
            <a:pPr algn="l">
              <a:lnSpc>
                <a:spcPct val="110000"/>
              </a:lnSpc>
              <a:spcAft>
                <a:spcPts val="0"/>
              </a:spcAft>
            </a:pPr>
            <a:r>
              <a:rPr lang="pl-PL" sz="1740" b="0" dirty="0">
                <a:solidFill>
                  <a:srgbClr val="F1F4FC"/>
                </a:solidFill>
                <a:latin typeface="Lato"/>
                <a:ea typeface="Lato"/>
                <a:cs typeface="Lato"/>
              </a:rPr>
              <a:t>Możesz ruszyć dalej.</a:t>
            </a:r>
            <a:endParaRPr lang="pl-PL" sz="174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paruj. Wykorzystaj pę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03 / RUCH</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Sparuj. Wykorzystaj pęd.</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koncepcyjny</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04</a:t>
            </a:r>
            <a:endParaRPr lang="pl-PL" sz="1200"/>
          </a:p>
        </p:txBody>
      </p:sp>
      <p:sp>
        <p:nvSpPr>
          <p:cNvPr id="9" name="Shape 9"/>
          <p:cNvSpPr/>
          <p:nvPr/>
        </p:nvSpPr>
        <p:spPr>
          <a:xfrm>
            <a:off x="548640" y="1882140"/>
            <a:ext cx="7924800" cy="4038600"/>
          </a:xfrm>
          <a:prstGeom prst="rect">
            <a:avLst/>
          </a:prstGeom>
          <a:solidFill>
            <a:srgbClr val="171E31"/>
          </a:solidFill>
          <a:ln>
            <a:noFill/>
          </a:ln>
        </p:spPr>
      </p:sp>
      <p:sp>
        <p:nvSpPr>
          <p:cNvPr id="10" name="Shape 10"/>
          <p:cNvSpPr/>
          <p:nvPr/>
        </p:nvSpPr>
        <p:spPr>
          <a:xfrm>
            <a:off x="838200" y="5120640"/>
            <a:ext cx="2819400" cy="152400"/>
          </a:xfrm>
          <a:prstGeom prst="rect">
            <a:avLst/>
          </a:prstGeom>
          <a:solidFill>
            <a:srgbClr val="253149"/>
          </a:solidFill>
          <a:ln>
            <a:noFill/>
          </a:ln>
        </p:spPr>
      </p:sp>
      <p:sp>
        <p:nvSpPr>
          <p:cNvPr id="11" name="Shape 11"/>
          <p:cNvSpPr/>
          <p:nvPr/>
        </p:nvSpPr>
        <p:spPr>
          <a:xfrm>
            <a:off x="838200" y="5120640"/>
            <a:ext cx="2819400" cy="30480"/>
          </a:xfrm>
          <a:prstGeom prst="rect">
            <a:avLst/>
          </a:prstGeom>
          <a:solidFill>
            <a:srgbClr val="9FADC5"/>
          </a:solidFill>
          <a:ln>
            <a:noFill/>
          </a:ln>
        </p:spPr>
      </p:sp>
      <p:sp>
        <p:nvSpPr>
          <p:cNvPr id="12" name="Shape 12"/>
          <p:cNvSpPr/>
          <p:nvPr/>
        </p:nvSpPr>
        <p:spPr>
          <a:xfrm>
            <a:off x="990600" y="5196840"/>
            <a:ext cx="137160" cy="30480"/>
          </a:xfrm>
          <a:prstGeom prst="rect">
            <a:avLst/>
          </a:prstGeom>
          <a:solidFill>
            <a:srgbClr val="171E31"/>
          </a:solidFill>
          <a:ln>
            <a:noFill/>
          </a:ln>
        </p:spPr>
      </p:sp>
      <p:sp>
        <p:nvSpPr>
          <p:cNvPr id="13" name="Shape 13"/>
          <p:cNvSpPr/>
          <p:nvPr/>
        </p:nvSpPr>
        <p:spPr>
          <a:xfrm>
            <a:off x="1485900" y="5196840"/>
            <a:ext cx="137160" cy="30480"/>
          </a:xfrm>
          <a:prstGeom prst="rect">
            <a:avLst/>
          </a:prstGeom>
          <a:solidFill>
            <a:srgbClr val="171E31"/>
          </a:solidFill>
          <a:ln>
            <a:noFill/>
          </a:ln>
        </p:spPr>
      </p:sp>
      <p:sp>
        <p:nvSpPr>
          <p:cNvPr id="14" name="Shape 14"/>
          <p:cNvSpPr/>
          <p:nvPr/>
        </p:nvSpPr>
        <p:spPr>
          <a:xfrm>
            <a:off x="1981200" y="5196840"/>
            <a:ext cx="137160" cy="30480"/>
          </a:xfrm>
          <a:prstGeom prst="rect">
            <a:avLst/>
          </a:prstGeom>
          <a:solidFill>
            <a:srgbClr val="171E31"/>
          </a:solidFill>
          <a:ln>
            <a:noFill/>
          </a:ln>
        </p:spPr>
      </p:sp>
      <p:sp>
        <p:nvSpPr>
          <p:cNvPr id="15" name="Shape 15"/>
          <p:cNvSpPr/>
          <p:nvPr/>
        </p:nvSpPr>
        <p:spPr>
          <a:xfrm>
            <a:off x="2476500" y="5196840"/>
            <a:ext cx="137160" cy="30480"/>
          </a:xfrm>
          <a:prstGeom prst="rect">
            <a:avLst/>
          </a:prstGeom>
          <a:solidFill>
            <a:srgbClr val="171E31"/>
          </a:solidFill>
          <a:ln>
            <a:noFill/>
          </a:ln>
        </p:spPr>
      </p:sp>
      <p:sp>
        <p:nvSpPr>
          <p:cNvPr id="16" name="Shape 16"/>
          <p:cNvSpPr/>
          <p:nvPr/>
        </p:nvSpPr>
        <p:spPr>
          <a:xfrm>
            <a:off x="2971800" y="5196840"/>
            <a:ext cx="137160" cy="30480"/>
          </a:xfrm>
          <a:prstGeom prst="rect">
            <a:avLst/>
          </a:prstGeom>
          <a:solidFill>
            <a:srgbClr val="171E31"/>
          </a:solidFill>
          <a:ln>
            <a:noFill/>
          </a:ln>
        </p:spPr>
      </p:sp>
      <p:sp>
        <p:nvSpPr>
          <p:cNvPr id="17" name="Shape 17"/>
          <p:cNvSpPr/>
          <p:nvPr/>
        </p:nvSpPr>
        <p:spPr>
          <a:xfrm>
            <a:off x="3467100" y="5196840"/>
            <a:ext cx="137160" cy="30480"/>
          </a:xfrm>
          <a:prstGeom prst="rect">
            <a:avLst/>
          </a:prstGeom>
          <a:solidFill>
            <a:srgbClr val="171E31"/>
          </a:solidFill>
          <a:ln>
            <a:noFill/>
          </a:ln>
        </p:spPr>
      </p:sp>
      <p:sp>
        <p:nvSpPr>
          <p:cNvPr id="18" name="Shape 18"/>
          <p:cNvSpPr/>
          <p:nvPr/>
        </p:nvSpPr>
        <p:spPr>
          <a:xfrm>
            <a:off x="6096000" y="3208020"/>
            <a:ext cx="2019300" cy="152400"/>
          </a:xfrm>
          <a:prstGeom prst="rect">
            <a:avLst/>
          </a:prstGeom>
          <a:solidFill>
            <a:srgbClr val="253149"/>
          </a:solidFill>
          <a:ln>
            <a:noFill/>
          </a:ln>
        </p:spPr>
      </p:sp>
      <p:sp>
        <p:nvSpPr>
          <p:cNvPr id="19" name="Shape 19"/>
          <p:cNvSpPr/>
          <p:nvPr/>
        </p:nvSpPr>
        <p:spPr>
          <a:xfrm>
            <a:off x="6096000" y="3208020"/>
            <a:ext cx="2019300" cy="30480"/>
          </a:xfrm>
          <a:prstGeom prst="rect">
            <a:avLst/>
          </a:prstGeom>
          <a:solidFill>
            <a:srgbClr val="9FADC5"/>
          </a:solidFill>
          <a:ln>
            <a:noFill/>
          </a:ln>
        </p:spPr>
      </p:sp>
      <p:sp>
        <p:nvSpPr>
          <p:cNvPr id="20" name="Shape 20"/>
          <p:cNvSpPr/>
          <p:nvPr/>
        </p:nvSpPr>
        <p:spPr>
          <a:xfrm>
            <a:off x="6248400" y="3284220"/>
            <a:ext cx="137160" cy="30480"/>
          </a:xfrm>
          <a:prstGeom prst="rect">
            <a:avLst/>
          </a:prstGeom>
          <a:solidFill>
            <a:srgbClr val="171E31"/>
          </a:solidFill>
          <a:ln>
            <a:noFill/>
          </a:ln>
        </p:spPr>
      </p:sp>
      <p:sp>
        <p:nvSpPr>
          <p:cNvPr id="21" name="Shape 21"/>
          <p:cNvSpPr/>
          <p:nvPr/>
        </p:nvSpPr>
        <p:spPr>
          <a:xfrm>
            <a:off x="6743700" y="3284220"/>
            <a:ext cx="137160" cy="30480"/>
          </a:xfrm>
          <a:prstGeom prst="rect">
            <a:avLst/>
          </a:prstGeom>
          <a:solidFill>
            <a:srgbClr val="171E31"/>
          </a:solidFill>
          <a:ln>
            <a:noFill/>
          </a:ln>
        </p:spPr>
      </p:sp>
      <p:sp>
        <p:nvSpPr>
          <p:cNvPr id="22" name="Shape 22"/>
          <p:cNvSpPr/>
          <p:nvPr/>
        </p:nvSpPr>
        <p:spPr>
          <a:xfrm>
            <a:off x="7239000" y="3284220"/>
            <a:ext cx="137160" cy="30480"/>
          </a:xfrm>
          <a:prstGeom prst="rect">
            <a:avLst/>
          </a:prstGeom>
          <a:solidFill>
            <a:srgbClr val="171E31"/>
          </a:solidFill>
          <a:ln>
            <a:noFill/>
          </a:ln>
        </p:spPr>
      </p:sp>
      <p:sp>
        <p:nvSpPr>
          <p:cNvPr id="23" name="Shape 23"/>
          <p:cNvSpPr/>
          <p:nvPr/>
        </p:nvSpPr>
        <p:spPr>
          <a:xfrm>
            <a:off x="7734300" y="3284220"/>
            <a:ext cx="137160" cy="30480"/>
          </a:xfrm>
          <a:prstGeom prst="rect">
            <a:avLst/>
          </a:prstGeom>
          <a:solidFill>
            <a:srgbClr val="171E31"/>
          </a:solidFill>
          <a:ln>
            <a:noFill/>
          </a:ln>
        </p:spPr>
      </p:sp>
      <p:pic>
        <p:nvPicPr>
          <p:cNvPr id="24" name="figma-characters/enemy.png" descr="Grafika odzyskana z Feedback mockup.make; statyczny kadr makiety."/>
          <p:cNvPicPr>
            <a:picLocks noChangeAspect="1"/>
          </p:cNvPicPr>
          <p:nvPr/>
        </p:nvPicPr>
        <p:blipFill>
          <a:blip r:embed="img1"/>
          <a:stretch>
            <a:fillRect/>
          </a:stretch>
        </p:blipFill>
        <p:spPr>
          <a:xfrm>
            <a:off x="1623822" y="4107180"/>
            <a:ext cx="935431" cy="1091336"/>
          </a:xfrm>
          <a:prstGeom prst="rect">
            <a:avLst/>
          </a:prstGeom>
        </p:spPr>
      </p:pic>
      <p:pic>
        <p:nvPicPr>
          <p:cNvPr id="25" name="figma-characters/player-parry.png" descr="Grafika odzyskana z Feedback mockup.make; statyczny kadr makiety."/>
          <p:cNvPicPr>
            <a:picLocks noChangeAspect="1"/>
          </p:cNvPicPr>
          <p:nvPr/>
        </p:nvPicPr>
        <p:blipFill>
          <a:blip r:embed="img2"/>
          <a:stretch>
            <a:fillRect/>
          </a:stretch>
        </p:blipFill>
        <p:spPr>
          <a:xfrm flipH="1">
            <a:off x="2562308" y="3890507"/>
            <a:ext cx="1450318" cy="1289171"/>
          </a:xfrm>
          <a:prstGeom prst="rect">
            <a:avLst/>
          </a:prstGeom>
        </p:spPr>
      </p:pic>
      <p:cxnSp>
        <p:nvCxnSpPr>
          <p:cNvPr id="26" name="Line 26"/>
          <p:cNvCxnSpPr/>
          <p:nvPr/>
        </p:nvCxnSpPr>
        <p:spPr>
          <a:xfrm>
            <a:off x="2651760" y="4625340"/>
            <a:ext cx="281940" cy="0"/>
          </a:xfrm>
          <a:prstGeom prst="line">
            <a:avLst/>
          </a:prstGeom>
          <a:ln w="38100" cap="rnd">
            <a:solidFill>
              <a:srgbClr val="FFB477"/>
            </a:solidFill>
            <a:tailEnd type="triangle" w="med" len="med"/>
          </a:ln>
        </p:spPr>
      </p:cxnSp>
      <p:cxnSp>
        <p:nvCxnSpPr>
          <p:cNvPr id="27" name="Line 27"/>
          <p:cNvCxnSpPr/>
          <p:nvPr/>
        </p:nvCxnSpPr>
        <p:spPr>
          <a:xfrm flipV="1">
            <a:off x="3710940" y="3840480"/>
            <a:ext cx="365760" cy="502920"/>
          </a:xfrm>
          <a:prstGeom prst="line">
            <a:avLst/>
          </a:prstGeom>
          <a:ln w="38100" cap="rnd">
            <a:solidFill>
              <a:srgbClr val="A79AFF"/>
            </a:solidFill>
            <a:prstDash val="dash"/>
          </a:ln>
        </p:spPr>
      </p:cxnSp>
      <p:cxnSp>
        <p:nvCxnSpPr>
          <p:cNvPr id="28" name="Line 28"/>
          <p:cNvCxnSpPr/>
          <p:nvPr/>
        </p:nvCxnSpPr>
        <p:spPr>
          <a:xfrm flipV="1">
            <a:off x="4076700" y="3390900"/>
            <a:ext cx="419100" cy="449580"/>
          </a:xfrm>
          <a:prstGeom prst="line">
            <a:avLst/>
          </a:prstGeom>
          <a:ln w="38100" cap="rnd">
            <a:solidFill>
              <a:srgbClr val="A79AFF"/>
            </a:solidFill>
            <a:prstDash val="dash"/>
          </a:ln>
        </p:spPr>
      </p:cxnSp>
      <p:cxnSp>
        <p:nvCxnSpPr>
          <p:cNvPr id="29" name="Line 29"/>
          <p:cNvCxnSpPr/>
          <p:nvPr/>
        </p:nvCxnSpPr>
        <p:spPr>
          <a:xfrm flipV="1">
            <a:off x="4495800" y="3040380"/>
            <a:ext cx="449580" cy="350520"/>
          </a:xfrm>
          <a:prstGeom prst="line">
            <a:avLst/>
          </a:prstGeom>
          <a:ln w="38100" cap="rnd">
            <a:solidFill>
              <a:srgbClr val="A79AFF"/>
            </a:solidFill>
            <a:prstDash val="dash"/>
          </a:ln>
        </p:spPr>
      </p:cxnSp>
      <p:cxnSp>
        <p:nvCxnSpPr>
          <p:cNvPr id="30" name="Line 30"/>
          <p:cNvCxnSpPr/>
          <p:nvPr/>
        </p:nvCxnSpPr>
        <p:spPr>
          <a:xfrm flipV="1">
            <a:off x="4945380" y="2819400"/>
            <a:ext cx="464820" cy="220980"/>
          </a:xfrm>
          <a:prstGeom prst="line">
            <a:avLst/>
          </a:prstGeom>
          <a:ln w="38100" cap="rnd">
            <a:solidFill>
              <a:srgbClr val="A79AFF"/>
            </a:solidFill>
            <a:prstDash val="dash"/>
          </a:ln>
        </p:spPr>
      </p:cxnSp>
      <p:cxnSp>
        <p:nvCxnSpPr>
          <p:cNvPr id="31" name="Line 31"/>
          <p:cNvCxnSpPr/>
          <p:nvPr/>
        </p:nvCxnSpPr>
        <p:spPr>
          <a:xfrm flipV="1">
            <a:off x="5410200" y="2735580"/>
            <a:ext cx="472440" cy="83820"/>
          </a:xfrm>
          <a:prstGeom prst="line">
            <a:avLst/>
          </a:prstGeom>
          <a:ln w="38100" cap="rnd">
            <a:solidFill>
              <a:srgbClr val="A79AFF"/>
            </a:solidFill>
            <a:prstDash val="dash"/>
          </a:ln>
        </p:spPr>
      </p:cxnSp>
      <p:cxnSp>
        <p:nvCxnSpPr>
          <p:cNvPr id="32" name="Line 32"/>
          <p:cNvCxnSpPr/>
          <p:nvPr/>
        </p:nvCxnSpPr>
        <p:spPr>
          <a:xfrm>
            <a:off x="5882640" y="2735580"/>
            <a:ext cx="464820" cy="53340"/>
          </a:xfrm>
          <a:prstGeom prst="line">
            <a:avLst/>
          </a:prstGeom>
          <a:ln w="38100" cap="rnd">
            <a:solidFill>
              <a:srgbClr val="A79AFF"/>
            </a:solidFill>
            <a:prstDash val="dash"/>
          </a:ln>
        </p:spPr>
      </p:cxnSp>
      <p:cxnSp>
        <p:nvCxnSpPr>
          <p:cNvPr id="33" name="Line 33"/>
          <p:cNvCxnSpPr/>
          <p:nvPr/>
        </p:nvCxnSpPr>
        <p:spPr>
          <a:xfrm>
            <a:off x="6347460" y="2788920"/>
            <a:ext cx="342900" cy="160020"/>
          </a:xfrm>
          <a:prstGeom prst="line">
            <a:avLst/>
          </a:prstGeom>
          <a:ln w="38100" cap="rnd">
            <a:solidFill>
              <a:srgbClr val="A79AFF"/>
            </a:solidFill>
            <a:prstDash val="dash"/>
            <a:tailEnd type="triangle" w="med" len="med"/>
          </a:ln>
        </p:spPr>
      </p:cxnSp>
      <p:pic>
        <p:nvPicPr>
          <p:cNvPr id="34" name="figma-characters/player-idle.png" descr="Grafika odzyskana z Feedback mockup.make; statyczny kadr makiety."/>
          <p:cNvPicPr>
            <a:picLocks noChangeAspect="1"/>
          </p:cNvPicPr>
          <p:nvPr/>
        </p:nvPicPr>
        <p:blipFill>
          <a:blip r:embed="img3"/>
          <a:stretch>
            <a:fillRect/>
          </a:stretch>
        </p:blipFill>
        <p:spPr>
          <a:xfrm>
            <a:off x="6747941" y="2348285"/>
            <a:ext cx="1087738" cy="966879"/>
          </a:xfrm>
          <a:prstGeom prst="rect">
            <a:avLst/>
          </a:prstGeom>
        </p:spPr>
      </p:pic>
      <p:cxnSp>
        <p:nvCxnSpPr>
          <p:cNvPr id="35" name="Line 35"/>
          <p:cNvCxnSpPr/>
          <p:nvPr/>
        </p:nvCxnSpPr>
        <p:spPr>
          <a:xfrm flipV="1">
            <a:off x="3569743" y="4027135"/>
            <a:ext cx="48305" cy="103591"/>
          </a:xfrm>
          <a:prstGeom prst="line">
            <a:avLst/>
          </a:prstGeom>
          <a:ln w="22860" cap="rnd">
            <a:solidFill>
              <a:srgbClr val="73E2CE"/>
            </a:solidFill>
          </a:ln>
        </p:spPr>
      </p:cxnSp>
      <p:cxnSp>
        <p:nvCxnSpPr>
          <p:cNvPr id="36" name="Line 36"/>
          <p:cNvCxnSpPr/>
          <p:nvPr/>
        </p:nvCxnSpPr>
        <p:spPr>
          <a:xfrm flipV="1">
            <a:off x="3789362" y="4274820"/>
            <a:ext cx="98987" cy="57150"/>
          </a:xfrm>
          <a:prstGeom prst="line">
            <a:avLst/>
          </a:prstGeom>
          <a:ln w="22860" cap="rnd">
            <a:solidFill>
              <a:srgbClr val="73E2CE"/>
            </a:solidFill>
          </a:ln>
        </p:spPr>
      </p:cxnSp>
      <p:cxnSp>
        <p:nvCxnSpPr>
          <p:cNvPr id="37" name="Line 37"/>
          <p:cNvCxnSpPr/>
          <p:nvPr/>
        </p:nvCxnSpPr>
        <p:spPr>
          <a:xfrm>
            <a:off x="3853835" y="4622788"/>
            <a:ext cx="113865" cy="9962"/>
          </a:xfrm>
          <a:prstGeom prst="line">
            <a:avLst/>
          </a:prstGeom>
          <a:ln w="22860" cap="rnd">
            <a:solidFill>
              <a:srgbClr val="73E2CE"/>
            </a:solidFill>
          </a:ln>
        </p:spPr>
      </p:cxnSp>
      <p:cxnSp>
        <p:nvCxnSpPr>
          <p:cNvPr id="38" name="Line 38"/>
          <p:cNvCxnSpPr/>
          <p:nvPr/>
        </p:nvCxnSpPr>
        <p:spPr>
          <a:xfrm>
            <a:off x="3739842" y="4897993"/>
            <a:ext cx="87559" cy="73471"/>
          </a:xfrm>
          <a:prstGeom prst="line">
            <a:avLst/>
          </a:prstGeom>
          <a:ln w="22860" cap="rnd">
            <a:solidFill>
              <a:srgbClr val="73E2CE"/>
            </a:solidFill>
          </a:ln>
        </p:spPr>
      </p:cxnSp>
      <p:cxnSp>
        <p:nvCxnSpPr>
          <p:cNvPr id="39" name="Line 39"/>
          <p:cNvCxnSpPr/>
          <p:nvPr/>
        </p:nvCxnSpPr>
        <p:spPr>
          <a:xfrm>
            <a:off x="3488613" y="5058043"/>
            <a:ext cx="29583" cy="110405"/>
          </a:xfrm>
          <a:prstGeom prst="line">
            <a:avLst/>
          </a:prstGeom>
          <a:ln w="22860" cap="rnd">
            <a:solidFill>
              <a:srgbClr val="73E2CE"/>
            </a:solidFill>
          </a:ln>
        </p:spPr>
      </p:cxnSp>
      <p:cxnSp>
        <p:nvCxnSpPr>
          <p:cNvPr id="40" name="Line 40"/>
          <p:cNvCxnSpPr/>
          <p:nvPr/>
        </p:nvCxnSpPr>
        <p:spPr>
          <a:xfrm flipH="1">
            <a:off x="3151925" y="5045050"/>
            <a:ext cx="39093" cy="107407"/>
          </a:xfrm>
          <a:prstGeom prst="line">
            <a:avLst/>
          </a:prstGeom>
          <a:ln w="22860" cap="rnd">
            <a:solidFill>
              <a:srgbClr val="73E2CE"/>
            </a:solidFill>
          </a:ln>
        </p:spPr>
      </p:cxnSp>
      <p:cxnSp>
        <p:nvCxnSpPr>
          <p:cNvPr id="41" name="Line 41"/>
          <p:cNvCxnSpPr/>
          <p:nvPr/>
        </p:nvCxnSpPr>
        <p:spPr>
          <a:xfrm flipH="1">
            <a:off x="2861065" y="4863712"/>
            <a:ext cx="93629" cy="65560"/>
          </a:xfrm>
          <a:prstGeom prst="line">
            <a:avLst/>
          </a:prstGeom>
          <a:ln w="22860" cap="rnd">
            <a:solidFill>
              <a:srgbClr val="73E2CE"/>
            </a:solidFill>
          </a:ln>
        </p:spPr>
      </p:cxnSp>
      <p:cxnSp>
        <p:nvCxnSpPr>
          <p:cNvPr id="42" name="Line 42"/>
          <p:cNvCxnSpPr/>
          <p:nvPr/>
        </p:nvCxnSpPr>
        <p:spPr>
          <a:xfrm flipH="1">
            <a:off x="2750820" y="4579620"/>
            <a:ext cx="114300" cy="0"/>
          </a:xfrm>
          <a:prstGeom prst="line">
            <a:avLst/>
          </a:prstGeom>
          <a:ln w="22860" cap="rnd">
            <a:solidFill>
              <a:srgbClr val="73E2CE"/>
            </a:solidFill>
          </a:ln>
        </p:spPr>
      </p:cxnSp>
      <p:cxnSp>
        <p:nvCxnSpPr>
          <p:cNvPr id="43" name="Line 43"/>
          <p:cNvCxnSpPr/>
          <p:nvPr/>
        </p:nvCxnSpPr>
        <p:spPr>
          <a:xfrm flipH="1" flipV="1">
            <a:off x="2861065" y="4229968"/>
            <a:ext cx="93629" cy="65560"/>
          </a:xfrm>
          <a:prstGeom prst="line">
            <a:avLst/>
          </a:prstGeom>
          <a:ln w="22860" cap="rnd">
            <a:solidFill>
              <a:srgbClr val="73E2CE"/>
            </a:solidFill>
          </a:ln>
        </p:spPr>
      </p:cxnSp>
      <p:sp>
        <p:nvSpPr>
          <p:cNvPr id="44" name="Text 44"/>
          <p:cNvSpPr txBox="1"/>
          <p:nvPr/>
        </p:nvSpPr>
        <p:spPr>
          <a:xfrm>
            <a:off x="952500" y="5417820"/>
            <a:ext cx="4572000" cy="297180"/>
          </a:xfrm>
          <a:prstGeom prst="rect">
            <a:avLst/>
          </a:prstGeom>
          <a:noFill/>
          <a:ln>
            <a:noFill/>
          </a:ln>
        </p:spPr>
        <p:txBody>
          <a:bodyPr wrap="square" lIns="0" tIns="0" rIns="0" bIns="0" anchor="t"/>
          <a:lstStyle/>
          <a:p>
            <a:pPr algn="l">
              <a:lnSpc>
                <a:spcPct val="110000"/>
              </a:lnSpc>
              <a:spcAft>
                <a:spcPts val="0"/>
              </a:spcAft>
            </a:pPr>
            <a:r>
              <a:rPr lang="pl-PL" sz="1620" b="1" dirty="0">
                <a:solidFill>
                  <a:srgbClr val="73E2CE"/>
                </a:solidFill>
                <a:latin typeface="Lato"/>
                <a:ea typeface="Lato"/>
                <a:cs typeface="Lato"/>
              </a:rPr>
              <a:t>Atak → parowanie → zmiana ruchu</a:t>
            </a:r>
            <a:endParaRPr lang="pl-PL" sz="1620"/>
          </a:p>
        </p:txBody>
      </p:sp>
      <p:sp>
        <p:nvSpPr>
          <p:cNvPr id="45" name="Text 45"/>
          <p:cNvSpPr txBox="1"/>
          <p:nvPr/>
        </p:nvSpPr>
        <p:spPr>
          <a:xfrm>
            <a:off x="8839200" y="2438400"/>
            <a:ext cx="2819400" cy="762000"/>
          </a:xfrm>
          <a:prstGeom prst="rect">
            <a:avLst/>
          </a:prstGeom>
          <a:noFill/>
          <a:ln>
            <a:noFill/>
          </a:ln>
        </p:spPr>
        <p:txBody>
          <a:bodyPr wrap="square" lIns="0" tIns="0" rIns="0" bIns="0" anchor="t"/>
          <a:lstStyle/>
          <a:p>
            <a:pPr algn="l">
              <a:lnSpc>
                <a:spcPct val="110000"/>
              </a:lnSpc>
              <a:spcAft>
                <a:spcPts val="0"/>
              </a:spcAft>
            </a:pPr>
            <a:r>
              <a:rPr lang="pl-PL" sz="2460" b="1" dirty="0">
                <a:solidFill>
                  <a:srgbClr val="F1F4FC"/>
                </a:solidFill>
                <a:latin typeface="Lato"/>
                <a:ea typeface="Lato"/>
                <a:cs typeface="Lato"/>
              </a:rPr>
              <a:t>Twoja obrona</a:t>
            </a:r>
            <a:endParaRPr lang="pl-PL" sz="2460"/>
          </a:p>
          <a:p>
            <a:pPr algn="l">
              <a:lnSpc>
                <a:spcPct val="110000"/>
              </a:lnSpc>
              <a:spcAft>
                <a:spcPts val="0"/>
              </a:spcAft>
            </a:pPr>
            <a:r>
              <a:rPr lang="pl-PL" sz="2460" b="1" dirty="0">
                <a:solidFill>
                  <a:srgbClr val="F1F4FC"/>
                </a:solidFill>
                <a:latin typeface="Lato"/>
                <a:ea typeface="Lato"/>
                <a:cs typeface="Lato"/>
              </a:rPr>
              <a:t>wyznacza trasę.</a:t>
            </a:r>
            <a:endParaRPr lang="pl-PL" sz="2460"/>
          </a:p>
        </p:txBody>
      </p:sp>
      <p:sp>
        <p:nvSpPr>
          <p:cNvPr id="46" name="Text 46"/>
          <p:cNvSpPr txBox="1"/>
          <p:nvPr/>
        </p:nvSpPr>
        <p:spPr>
          <a:xfrm>
            <a:off x="8839200" y="3733800"/>
            <a:ext cx="2743200" cy="102870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9FADC5"/>
                </a:solidFill>
                <a:latin typeface="Lato"/>
                <a:ea typeface="Lato"/>
                <a:cs typeface="Lato"/>
              </a:rPr>
              <a:t>Ten sam przycisk.</a:t>
            </a:r>
            <a:endParaRPr lang="pl-PL" sz="1740"/>
          </a:p>
          <a:p>
            <a:pPr algn="l">
              <a:lnSpc>
                <a:spcPct val="110000"/>
              </a:lnSpc>
              <a:spcAft>
                <a:spcPts val="0"/>
              </a:spcAft>
            </a:pPr>
            <a:r>
              <a:rPr lang="pl-PL" sz="1740" b="0" dirty="0">
                <a:solidFill>
                  <a:srgbClr val="9FADC5"/>
                </a:solidFill>
                <a:latin typeface="Lato"/>
                <a:ea typeface="Lato"/>
                <a:cs typeface="Lato"/>
              </a:rPr>
              <a:t>Nowe zastosowanie.</a:t>
            </a:r>
            <a:endParaRPr lang="pl-PL" sz="1740"/>
          </a:p>
          <a:p>
            <a:pPr algn="l">
              <a:lnSpc>
                <a:spcPct val="110000"/>
              </a:lnSpc>
              <a:spcAft>
                <a:spcPts val="0"/>
              </a:spcAft>
            </a:pPr>
            <a:r>
              <a:rPr lang="pl-PL" sz="1740" b="0" dirty="0">
                <a:solidFill>
                  <a:srgbClr val="9FADC5"/>
                </a:solidFill>
                <a:latin typeface="Lato"/>
                <a:ea typeface="Lato"/>
                <a:cs typeface="Lato"/>
              </a:rPr>
              <a:t>Inna droga przez poziom.</a:t>
            </a:r>
            <a:endParaRPr lang="pl-PL" sz="174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Zobacz. Zaplanuj. Wykonaj.">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04 / DOŚWIADCZENIE GRACZA</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Zobacz. Zaplanuj. Wykonaj.</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pętli rozgrywki</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05</a:t>
            </a:r>
            <a:endParaRPr lang="pl-PL" sz="1200"/>
          </a:p>
        </p:txBody>
      </p:sp>
      <p:sp>
        <p:nvSpPr>
          <p:cNvPr id="9" name="Shape 9"/>
          <p:cNvSpPr/>
          <p:nvPr/>
        </p:nvSpPr>
        <p:spPr>
          <a:xfrm>
            <a:off x="1508760" y="2072640"/>
            <a:ext cx="1371600" cy="1371600"/>
          </a:xfrm>
          <a:prstGeom prst="ellipse">
            <a:avLst/>
          </a:prstGeom>
          <a:noFill/>
          <a:ln w="22860">
            <a:solidFill>
              <a:srgbClr val="FFB477"/>
            </a:solidFill>
          </a:ln>
        </p:spPr>
      </p:sp>
      <p:sp>
        <p:nvSpPr>
          <p:cNvPr id="10" name="Text 10"/>
          <p:cNvSpPr txBox="1"/>
          <p:nvPr/>
        </p:nvSpPr>
        <p:spPr>
          <a:xfrm>
            <a:off x="1508760" y="2339340"/>
            <a:ext cx="1371600" cy="838200"/>
          </a:xfrm>
          <a:prstGeom prst="rect">
            <a:avLst/>
          </a:prstGeom>
          <a:noFill/>
          <a:ln>
            <a:noFill/>
          </a:ln>
        </p:spPr>
        <p:txBody>
          <a:bodyPr wrap="square" lIns="0" tIns="0" rIns="0" bIns="0" anchor="t"/>
          <a:lstStyle/>
          <a:p>
            <a:pPr algn="ctr">
              <a:lnSpc>
                <a:spcPct val="110000"/>
              </a:lnSpc>
              <a:spcAft>
                <a:spcPts val="0"/>
              </a:spcAft>
            </a:pPr>
            <a:r>
              <a:rPr lang="pl-PL" sz="5160" b="1" dirty="0">
                <a:solidFill>
                  <a:srgbClr val="FFB477"/>
                </a:solidFill>
                <a:latin typeface="Lato"/>
                <a:ea typeface="Lato"/>
                <a:cs typeface="Lato"/>
              </a:rPr>
              <a:t>1</a:t>
            </a:r>
            <a:endParaRPr lang="pl-PL" sz="5160"/>
          </a:p>
        </p:txBody>
      </p:sp>
      <p:sp>
        <p:nvSpPr>
          <p:cNvPr id="11" name="Text 11"/>
          <p:cNvSpPr txBox="1"/>
          <p:nvPr/>
        </p:nvSpPr>
        <p:spPr>
          <a:xfrm>
            <a:off x="548640" y="3779520"/>
            <a:ext cx="3566160" cy="457200"/>
          </a:xfrm>
          <a:prstGeom prst="rect">
            <a:avLst/>
          </a:prstGeom>
          <a:noFill/>
          <a:ln>
            <a:noFill/>
          </a:ln>
        </p:spPr>
        <p:txBody>
          <a:bodyPr wrap="square" lIns="0" tIns="0" rIns="0" bIns="0" anchor="t"/>
          <a:lstStyle/>
          <a:p>
            <a:pPr algn="ctr">
              <a:lnSpc>
                <a:spcPct val="110000"/>
              </a:lnSpc>
              <a:spcAft>
                <a:spcPts val="0"/>
              </a:spcAft>
            </a:pPr>
            <a:r>
              <a:rPr lang="pl-PL" sz="2640" b="1" dirty="0">
                <a:solidFill>
                  <a:srgbClr val="F1F4FC"/>
                </a:solidFill>
                <a:latin typeface="Lato"/>
                <a:ea typeface="Lato"/>
                <a:cs typeface="Lato"/>
              </a:rPr>
              <a:t>Obserwacja</a:t>
            </a:r>
            <a:endParaRPr lang="pl-PL" sz="2640"/>
          </a:p>
        </p:txBody>
      </p:sp>
      <p:sp>
        <p:nvSpPr>
          <p:cNvPr id="12" name="Text 12"/>
          <p:cNvSpPr txBox="1"/>
          <p:nvPr/>
        </p:nvSpPr>
        <p:spPr>
          <a:xfrm>
            <a:off x="548640" y="4404360"/>
            <a:ext cx="3566160" cy="655320"/>
          </a:xfrm>
          <a:prstGeom prst="rect">
            <a:avLst/>
          </a:prstGeom>
          <a:noFill/>
          <a:ln>
            <a:noFill/>
          </a:ln>
        </p:spPr>
        <p:txBody>
          <a:bodyPr wrap="square" lIns="0" tIns="0" rIns="0" bIns="0" anchor="t"/>
          <a:lstStyle/>
          <a:p>
            <a:pPr algn="ctr">
              <a:lnSpc>
                <a:spcPct val="110000"/>
              </a:lnSpc>
              <a:spcAft>
                <a:spcPts val="0"/>
              </a:spcAft>
            </a:pPr>
            <a:r>
              <a:rPr lang="pl-PL" sz="1740" b="0" dirty="0">
                <a:solidFill>
                  <a:srgbClr val="9FADC5"/>
                </a:solidFill>
                <a:latin typeface="Lato"/>
                <a:ea typeface="Lato"/>
                <a:cs typeface="Lato"/>
              </a:rPr>
              <a:t>Rozpoznajesz atak</a:t>
            </a:r>
            <a:endParaRPr lang="pl-PL" sz="1740"/>
          </a:p>
          <a:p>
            <a:pPr algn="ctr">
              <a:lnSpc>
                <a:spcPct val="110000"/>
              </a:lnSpc>
              <a:spcAft>
                <a:spcPts val="0"/>
              </a:spcAft>
            </a:pPr>
            <a:r>
              <a:rPr lang="pl-PL" sz="1740" b="0" dirty="0">
                <a:solidFill>
                  <a:srgbClr val="9FADC5"/>
                </a:solidFill>
                <a:latin typeface="Lato"/>
                <a:ea typeface="Lato"/>
                <a:cs typeface="Lato"/>
              </a:rPr>
              <a:t>i układ przeszkód.</a:t>
            </a:r>
            <a:endParaRPr lang="pl-PL" sz="1740"/>
          </a:p>
        </p:txBody>
      </p:sp>
      <p:sp>
        <p:nvSpPr>
          <p:cNvPr id="13" name="Shape 13"/>
          <p:cNvSpPr/>
          <p:nvPr/>
        </p:nvSpPr>
        <p:spPr>
          <a:xfrm>
            <a:off x="5273040" y="2072640"/>
            <a:ext cx="1371600" cy="1371600"/>
          </a:xfrm>
          <a:prstGeom prst="ellipse">
            <a:avLst/>
          </a:prstGeom>
          <a:noFill/>
          <a:ln w="22860">
            <a:solidFill>
              <a:srgbClr val="A79AFF"/>
            </a:solidFill>
          </a:ln>
        </p:spPr>
      </p:sp>
      <p:sp>
        <p:nvSpPr>
          <p:cNvPr id="14" name="Text 14"/>
          <p:cNvSpPr txBox="1"/>
          <p:nvPr/>
        </p:nvSpPr>
        <p:spPr>
          <a:xfrm>
            <a:off x="5273040" y="2339340"/>
            <a:ext cx="1371600" cy="838200"/>
          </a:xfrm>
          <a:prstGeom prst="rect">
            <a:avLst/>
          </a:prstGeom>
          <a:noFill/>
          <a:ln>
            <a:noFill/>
          </a:ln>
        </p:spPr>
        <p:txBody>
          <a:bodyPr wrap="square" lIns="0" tIns="0" rIns="0" bIns="0" anchor="t"/>
          <a:lstStyle/>
          <a:p>
            <a:pPr algn="ctr">
              <a:lnSpc>
                <a:spcPct val="110000"/>
              </a:lnSpc>
              <a:spcAft>
                <a:spcPts val="0"/>
              </a:spcAft>
            </a:pPr>
            <a:r>
              <a:rPr lang="pl-PL" sz="5160" b="1" dirty="0">
                <a:solidFill>
                  <a:srgbClr val="A79AFF"/>
                </a:solidFill>
                <a:latin typeface="Lato"/>
                <a:ea typeface="Lato"/>
                <a:cs typeface="Lato"/>
              </a:rPr>
              <a:t>2</a:t>
            </a:r>
            <a:endParaRPr lang="pl-PL" sz="5160"/>
          </a:p>
        </p:txBody>
      </p:sp>
      <p:sp>
        <p:nvSpPr>
          <p:cNvPr id="15" name="Text 15"/>
          <p:cNvSpPr txBox="1"/>
          <p:nvPr/>
        </p:nvSpPr>
        <p:spPr>
          <a:xfrm>
            <a:off x="4312920" y="3779520"/>
            <a:ext cx="3566160" cy="457200"/>
          </a:xfrm>
          <a:prstGeom prst="rect">
            <a:avLst/>
          </a:prstGeom>
          <a:noFill/>
          <a:ln>
            <a:noFill/>
          </a:ln>
        </p:spPr>
        <p:txBody>
          <a:bodyPr wrap="square" lIns="0" tIns="0" rIns="0" bIns="0" anchor="t"/>
          <a:lstStyle/>
          <a:p>
            <a:pPr algn="ctr">
              <a:lnSpc>
                <a:spcPct val="110000"/>
              </a:lnSpc>
              <a:spcAft>
                <a:spcPts val="0"/>
              </a:spcAft>
            </a:pPr>
            <a:r>
              <a:rPr lang="pl-PL" sz="2640" b="1" dirty="0">
                <a:solidFill>
                  <a:srgbClr val="F1F4FC"/>
                </a:solidFill>
                <a:latin typeface="Lato"/>
                <a:ea typeface="Lato"/>
                <a:cs typeface="Lato"/>
              </a:rPr>
              <a:t>Plan</a:t>
            </a:r>
            <a:endParaRPr lang="pl-PL" sz="2640"/>
          </a:p>
        </p:txBody>
      </p:sp>
      <p:sp>
        <p:nvSpPr>
          <p:cNvPr id="16" name="Text 16"/>
          <p:cNvSpPr txBox="1"/>
          <p:nvPr/>
        </p:nvSpPr>
        <p:spPr>
          <a:xfrm>
            <a:off x="4312920" y="4404360"/>
            <a:ext cx="3566160" cy="655320"/>
          </a:xfrm>
          <a:prstGeom prst="rect">
            <a:avLst/>
          </a:prstGeom>
          <a:noFill/>
          <a:ln>
            <a:noFill/>
          </a:ln>
        </p:spPr>
        <p:txBody>
          <a:bodyPr wrap="square" lIns="0" tIns="0" rIns="0" bIns="0" anchor="t"/>
          <a:lstStyle/>
          <a:p>
            <a:pPr algn="ctr">
              <a:lnSpc>
                <a:spcPct val="110000"/>
              </a:lnSpc>
              <a:spcAft>
                <a:spcPts val="0"/>
              </a:spcAft>
            </a:pPr>
            <a:r>
              <a:rPr lang="pl-PL" sz="1740" b="0" dirty="0">
                <a:solidFill>
                  <a:srgbClr val="9FADC5"/>
                </a:solidFill>
                <a:latin typeface="Lato"/>
                <a:ea typeface="Lato"/>
                <a:cs typeface="Lato"/>
              </a:rPr>
              <a:t>Wybierasz moment</a:t>
            </a:r>
            <a:endParaRPr lang="pl-PL" sz="1740"/>
          </a:p>
          <a:p>
            <a:pPr algn="ctr">
              <a:lnSpc>
                <a:spcPct val="110000"/>
              </a:lnSpc>
              <a:spcAft>
                <a:spcPts val="0"/>
              </a:spcAft>
            </a:pPr>
            <a:r>
              <a:rPr lang="pl-PL" sz="1740" b="0" dirty="0">
                <a:solidFill>
                  <a:srgbClr val="9FADC5"/>
                </a:solidFill>
                <a:latin typeface="Lato"/>
                <a:ea typeface="Lato"/>
                <a:cs typeface="Lato"/>
              </a:rPr>
              <a:t>i sposób użycia parry.</a:t>
            </a:r>
            <a:endParaRPr lang="pl-PL" sz="1740"/>
          </a:p>
        </p:txBody>
      </p:sp>
      <p:sp>
        <p:nvSpPr>
          <p:cNvPr id="17" name="Shape 17"/>
          <p:cNvSpPr/>
          <p:nvPr/>
        </p:nvSpPr>
        <p:spPr>
          <a:xfrm>
            <a:off x="9037320" y="2072640"/>
            <a:ext cx="1371600" cy="1371600"/>
          </a:xfrm>
          <a:prstGeom prst="ellipse">
            <a:avLst/>
          </a:prstGeom>
          <a:noFill/>
          <a:ln w="22860">
            <a:solidFill>
              <a:srgbClr val="73E2CE"/>
            </a:solidFill>
          </a:ln>
        </p:spPr>
      </p:sp>
      <p:sp>
        <p:nvSpPr>
          <p:cNvPr id="18" name="Text 18"/>
          <p:cNvSpPr txBox="1"/>
          <p:nvPr/>
        </p:nvSpPr>
        <p:spPr>
          <a:xfrm>
            <a:off x="9037320" y="2339340"/>
            <a:ext cx="1371600" cy="838200"/>
          </a:xfrm>
          <a:prstGeom prst="rect">
            <a:avLst/>
          </a:prstGeom>
          <a:noFill/>
          <a:ln>
            <a:noFill/>
          </a:ln>
        </p:spPr>
        <p:txBody>
          <a:bodyPr wrap="square" lIns="0" tIns="0" rIns="0" bIns="0" anchor="t"/>
          <a:lstStyle/>
          <a:p>
            <a:pPr algn="ctr">
              <a:lnSpc>
                <a:spcPct val="110000"/>
              </a:lnSpc>
              <a:spcAft>
                <a:spcPts val="0"/>
              </a:spcAft>
            </a:pPr>
            <a:r>
              <a:rPr lang="pl-PL" sz="5160" b="1" dirty="0">
                <a:solidFill>
                  <a:srgbClr val="73E2CE"/>
                </a:solidFill>
                <a:latin typeface="Lato"/>
                <a:ea typeface="Lato"/>
                <a:cs typeface="Lato"/>
              </a:rPr>
              <a:t>3</a:t>
            </a:r>
            <a:endParaRPr lang="pl-PL" sz="5160"/>
          </a:p>
        </p:txBody>
      </p:sp>
      <p:sp>
        <p:nvSpPr>
          <p:cNvPr id="19" name="Text 19"/>
          <p:cNvSpPr txBox="1"/>
          <p:nvPr/>
        </p:nvSpPr>
        <p:spPr>
          <a:xfrm>
            <a:off x="8077200" y="3779520"/>
            <a:ext cx="3566160" cy="457200"/>
          </a:xfrm>
          <a:prstGeom prst="rect">
            <a:avLst/>
          </a:prstGeom>
          <a:noFill/>
          <a:ln>
            <a:noFill/>
          </a:ln>
        </p:spPr>
        <p:txBody>
          <a:bodyPr wrap="square" lIns="0" tIns="0" rIns="0" bIns="0" anchor="t"/>
          <a:lstStyle/>
          <a:p>
            <a:pPr algn="ctr">
              <a:lnSpc>
                <a:spcPct val="110000"/>
              </a:lnSpc>
              <a:spcAft>
                <a:spcPts val="0"/>
              </a:spcAft>
            </a:pPr>
            <a:r>
              <a:rPr lang="pl-PL" sz="2640" b="1" dirty="0">
                <a:solidFill>
                  <a:srgbClr val="F1F4FC"/>
                </a:solidFill>
                <a:latin typeface="Lato"/>
                <a:ea typeface="Lato"/>
                <a:cs typeface="Lato"/>
              </a:rPr>
              <a:t>Wykonanie</a:t>
            </a:r>
            <a:endParaRPr lang="pl-PL" sz="2640"/>
          </a:p>
        </p:txBody>
      </p:sp>
      <p:sp>
        <p:nvSpPr>
          <p:cNvPr id="20" name="Text 20"/>
          <p:cNvSpPr txBox="1"/>
          <p:nvPr/>
        </p:nvSpPr>
        <p:spPr>
          <a:xfrm>
            <a:off x="8077200" y="4404360"/>
            <a:ext cx="3566160" cy="655320"/>
          </a:xfrm>
          <a:prstGeom prst="rect">
            <a:avLst/>
          </a:prstGeom>
          <a:noFill/>
          <a:ln>
            <a:noFill/>
          </a:ln>
        </p:spPr>
        <p:txBody>
          <a:bodyPr wrap="square" lIns="0" tIns="0" rIns="0" bIns="0" anchor="t"/>
          <a:lstStyle/>
          <a:p>
            <a:pPr algn="ctr">
              <a:lnSpc>
                <a:spcPct val="110000"/>
              </a:lnSpc>
              <a:spcAft>
                <a:spcPts val="0"/>
              </a:spcAft>
            </a:pPr>
            <a:r>
              <a:rPr lang="pl-PL" sz="1740" b="0" dirty="0">
                <a:solidFill>
                  <a:srgbClr val="9FADC5"/>
                </a:solidFill>
                <a:latin typeface="Lato"/>
                <a:ea typeface="Lato"/>
                <a:cs typeface="Lato"/>
              </a:rPr>
              <a:t>Łączysz refleks</a:t>
            </a:r>
            <a:endParaRPr lang="pl-PL" sz="1740"/>
          </a:p>
          <a:p>
            <a:pPr algn="ctr">
              <a:lnSpc>
                <a:spcPct val="110000"/>
              </a:lnSpc>
              <a:spcAft>
                <a:spcPts val="0"/>
              </a:spcAft>
            </a:pPr>
            <a:r>
              <a:rPr lang="pl-PL" sz="1740" b="0" dirty="0">
                <a:solidFill>
                  <a:srgbClr val="9FADC5"/>
                </a:solidFill>
                <a:latin typeface="Lato"/>
                <a:ea typeface="Lato"/>
                <a:cs typeface="Lato"/>
              </a:rPr>
              <a:t>z rozwiązaniem zagadki.</a:t>
            </a:r>
            <a:endParaRPr lang="pl-PL" sz="1740"/>
          </a:p>
        </p:txBody>
      </p:sp>
      <p:cxnSp>
        <p:nvCxnSpPr>
          <p:cNvPr id="21" name="Line 21"/>
          <p:cNvCxnSpPr/>
          <p:nvPr/>
        </p:nvCxnSpPr>
        <p:spPr>
          <a:xfrm>
            <a:off x="3116580" y="2773680"/>
            <a:ext cx="937260" cy="0"/>
          </a:xfrm>
          <a:prstGeom prst="line">
            <a:avLst/>
          </a:prstGeom>
          <a:ln w="30480" cap="rnd">
            <a:solidFill>
              <a:srgbClr val="9FADC5"/>
            </a:solidFill>
            <a:tailEnd type="triangle" w="med" len="med"/>
          </a:ln>
        </p:spPr>
      </p:cxnSp>
      <p:cxnSp>
        <p:nvCxnSpPr>
          <p:cNvPr id="22" name="Line 22"/>
          <p:cNvCxnSpPr/>
          <p:nvPr/>
        </p:nvCxnSpPr>
        <p:spPr>
          <a:xfrm>
            <a:off x="6880860" y="2773680"/>
            <a:ext cx="937260" cy="0"/>
          </a:xfrm>
          <a:prstGeom prst="line">
            <a:avLst/>
          </a:prstGeom>
          <a:ln w="30480" cap="rnd">
            <a:solidFill>
              <a:srgbClr val="9FADC5"/>
            </a:solidFill>
            <a:tailEnd type="triangle" w="med" len="med"/>
          </a:ln>
        </p:spPr>
      </p:cxnSp>
      <p:cxnSp>
        <p:nvCxnSpPr>
          <p:cNvPr id="23" name="Line 23"/>
          <p:cNvCxnSpPr/>
          <p:nvPr/>
        </p:nvCxnSpPr>
        <p:spPr>
          <a:xfrm>
            <a:off x="9723120" y="5410200"/>
            <a:ext cx="0" cy="342900"/>
          </a:xfrm>
          <a:prstGeom prst="line">
            <a:avLst/>
          </a:prstGeom>
          <a:ln w="22860" cap="rnd">
            <a:solidFill>
              <a:srgbClr val="73E2CE"/>
            </a:solidFill>
          </a:ln>
        </p:spPr>
      </p:cxnSp>
      <p:cxnSp>
        <p:nvCxnSpPr>
          <p:cNvPr id="24" name="Line 24"/>
          <p:cNvCxnSpPr/>
          <p:nvPr/>
        </p:nvCxnSpPr>
        <p:spPr>
          <a:xfrm flipH="1">
            <a:off x="2186940" y="5753100"/>
            <a:ext cx="7536180" cy="0"/>
          </a:xfrm>
          <a:prstGeom prst="line">
            <a:avLst/>
          </a:prstGeom>
          <a:ln w="22860" cap="rnd">
            <a:solidFill>
              <a:srgbClr val="73E2CE"/>
            </a:solidFill>
            <a:tailEnd type="triangle" w="med" len="med"/>
          </a:ln>
        </p:spPr>
      </p:cxnSp>
      <p:sp>
        <p:nvSpPr>
          <p:cNvPr id="25" name="Text 25"/>
          <p:cNvSpPr txBox="1"/>
          <p:nvPr/>
        </p:nvSpPr>
        <p:spPr>
          <a:xfrm>
            <a:off x="3893820" y="5455920"/>
            <a:ext cx="4876800" cy="281940"/>
          </a:xfrm>
          <a:prstGeom prst="rect">
            <a:avLst/>
          </a:prstGeom>
          <a:noFill/>
          <a:ln>
            <a:noFill/>
          </a:ln>
        </p:spPr>
        <p:txBody>
          <a:bodyPr wrap="square" lIns="0" tIns="0" rIns="0" bIns="0" anchor="t"/>
          <a:lstStyle/>
          <a:p>
            <a:pPr algn="ctr">
              <a:lnSpc>
                <a:spcPct val="110000"/>
              </a:lnSpc>
              <a:spcAft>
                <a:spcPts val="0"/>
              </a:spcAft>
            </a:pPr>
            <a:r>
              <a:rPr lang="pl-PL" sz="1680" b="1" dirty="0">
                <a:solidFill>
                  <a:srgbClr val="73E2CE"/>
                </a:solidFill>
                <a:latin typeface="Lato"/>
                <a:ea typeface="Lato"/>
                <a:cs typeface="Lato"/>
              </a:rPr>
              <a:t>Pomyłka → szybka kolejna próba</a:t>
            </a:r>
            <a:endParaRPr lang="pl-PL" sz="168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Refleks spotyka łamigłówkę.">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05 / DLA KOGO</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Refleks spotyka łamigłówkę.</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Grupa docelowa z dokumentacji</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06</a:t>
            </a:r>
            <a:endParaRPr lang="pl-PL" sz="1200"/>
          </a:p>
        </p:txBody>
      </p:sp>
      <p:sp>
        <p:nvSpPr>
          <p:cNvPr id="9" name="Shape 9"/>
          <p:cNvSpPr/>
          <p:nvPr/>
        </p:nvSpPr>
        <p:spPr>
          <a:xfrm>
            <a:off x="1219200" y="1988820"/>
            <a:ext cx="3352800" cy="3352800"/>
          </a:xfrm>
          <a:prstGeom prst="ellipse">
            <a:avLst/>
          </a:prstGeom>
          <a:noFill/>
          <a:ln w="30480">
            <a:solidFill>
              <a:srgbClr val="A79AFF"/>
            </a:solidFill>
          </a:ln>
        </p:spPr>
      </p:sp>
      <p:sp>
        <p:nvSpPr>
          <p:cNvPr id="10" name="Shape 10"/>
          <p:cNvSpPr/>
          <p:nvPr/>
        </p:nvSpPr>
        <p:spPr>
          <a:xfrm>
            <a:off x="3672840" y="1988820"/>
            <a:ext cx="3352800" cy="3352800"/>
          </a:xfrm>
          <a:prstGeom prst="ellipse">
            <a:avLst/>
          </a:prstGeom>
          <a:noFill/>
          <a:ln w="30480">
            <a:solidFill>
              <a:srgbClr val="73E2CE"/>
            </a:solidFill>
          </a:ln>
        </p:spPr>
      </p:sp>
      <p:sp>
        <p:nvSpPr>
          <p:cNvPr id="11" name="Text 11"/>
          <p:cNvSpPr txBox="1"/>
          <p:nvPr/>
        </p:nvSpPr>
        <p:spPr>
          <a:xfrm>
            <a:off x="1623060" y="3360420"/>
            <a:ext cx="2286000" cy="502920"/>
          </a:xfrm>
          <a:prstGeom prst="rect">
            <a:avLst/>
          </a:prstGeom>
          <a:noFill/>
          <a:ln>
            <a:noFill/>
          </a:ln>
        </p:spPr>
        <p:txBody>
          <a:bodyPr wrap="square" lIns="0" tIns="0" rIns="0" bIns="0" anchor="t"/>
          <a:lstStyle/>
          <a:p>
            <a:pPr algn="ctr">
              <a:lnSpc>
                <a:spcPct val="110000"/>
              </a:lnSpc>
              <a:spcAft>
                <a:spcPts val="0"/>
              </a:spcAft>
            </a:pPr>
            <a:r>
              <a:rPr lang="pl-PL" sz="2940" b="1" dirty="0">
                <a:solidFill>
                  <a:srgbClr val="A79AFF"/>
                </a:solidFill>
                <a:latin typeface="Lato"/>
                <a:ea typeface="Lato"/>
                <a:cs typeface="Lato"/>
              </a:rPr>
              <a:t>REFLEKS</a:t>
            </a:r>
            <a:endParaRPr lang="pl-PL" sz="2940"/>
          </a:p>
        </p:txBody>
      </p:sp>
      <p:sp>
        <p:nvSpPr>
          <p:cNvPr id="12" name="Text 12"/>
          <p:cNvSpPr txBox="1"/>
          <p:nvPr/>
        </p:nvSpPr>
        <p:spPr>
          <a:xfrm>
            <a:off x="4366260" y="3360420"/>
            <a:ext cx="2286000" cy="502920"/>
          </a:xfrm>
          <a:prstGeom prst="rect">
            <a:avLst/>
          </a:prstGeom>
          <a:noFill/>
          <a:ln>
            <a:noFill/>
          </a:ln>
        </p:spPr>
        <p:txBody>
          <a:bodyPr wrap="square" lIns="0" tIns="0" rIns="0" bIns="0" anchor="t"/>
          <a:lstStyle/>
          <a:p>
            <a:pPr algn="ctr">
              <a:lnSpc>
                <a:spcPct val="110000"/>
              </a:lnSpc>
              <a:spcAft>
                <a:spcPts val="0"/>
              </a:spcAft>
            </a:pPr>
            <a:r>
              <a:rPr lang="pl-PL" sz="2940" b="1" dirty="0">
                <a:solidFill>
                  <a:srgbClr val="73E2CE"/>
                </a:solidFill>
                <a:latin typeface="Lato"/>
                <a:ea typeface="Lato"/>
                <a:cs typeface="Lato"/>
              </a:rPr>
              <a:t>ZAGADKI</a:t>
            </a:r>
            <a:endParaRPr lang="pl-PL" sz="2940"/>
          </a:p>
        </p:txBody>
      </p:sp>
      <p:sp>
        <p:nvSpPr>
          <p:cNvPr id="13" name="Shape 13"/>
          <p:cNvSpPr/>
          <p:nvPr/>
        </p:nvSpPr>
        <p:spPr>
          <a:xfrm>
            <a:off x="3924300" y="3398520"/>
            <a:ext cx="411480" cy="411480"/>
          </a:xfrm>
          <a:prstGeom prst="ellipse">
            <a:avLst/>
          </a:prstGeom>
          <a:solidFill>
            <a:srgbClr val="F1F4FC"/>
          </a:solidFill>
          <a:ln>
            <a:noFill/>
          </a:ln>
        </p:spPr>
      </p:sp>
      <p:sp>
        <p:nvSpPr>
          <p:cNvPr id="14" name="Text 14"/>
          <p:cNvSpPr txBox="1"/>
          <p:nvPr/>
        </p:nvSpPr>
        <p:spPr>
          <a:xfrm>
            <a:off x="1219200" y="5623560"/>
            <a:ext cx="5791200" cy="335280"/>
          </a:xfrm>
          <a:prstGeom prst="rect">
            <a:avLst/>
          </a:prstGeom>
          <a:noFill/>
          <a:ln>
            <a:noFill/>
          </a:ln>
        </p:spPr>
        <p:txBody>
          <a:bodyPr wrap="square" lIns="0" tIns="0" rIns="0" bIns="0" anchor="t"/>
          <a:lstStyle/>
          <a:p>
            <a:pPr algn="ctr">
              <a:lnSpc>
                <a:spcPct val="110000"/>
              </a:lnSpc>
              <a:spcAft>
                <a:spcPts val="0"/>
              </a:spcAft>
            </a:pPr>
            <a:r>
              <a:rPr lang="pl-PL" sz="1680" b="1" dirty="0">
                <a:solidFill>
                  <a:srgbClr val="F1F4FC"/>
                </a:solidFill>
                <a:latin typeface="Lato"/>
                <a:ea typeface="Lato"/>
                <a:cs typeface="Lato"/>
              </a:rPr>
              <a:t>Satysfakcja z opanowania mechaniki</a:t>
            </a:r>
            <a:endParaRPr lang="pl-PL" sz="1680"/>
          </a:p>
        </p:txBody>
      </p:sp>
      <p:sp>
        <p:nvSpPr>
          <p:cNvPr id="15" name="Text 15"/>
          <p:cNvSpPr txBox="1"/>
          <p:nvPr/>
        </p:nvSpPr>
        <p:spPr>
          <a:xfrm>
            <a:off x="7940040" y="2278380"/>
            <a:ext cx="655320" cy="281940"/>
          </a:xfrm>
          <a:prstGeom prst="rect">
            <a:avLst/>
          </a:prstGeom>
          <a:noFill/>
          <a:ln>
            <a:noFill/>
          </a:ln>
        </p:spPr>
        <p:txBody>
          <a:bodyPr wrap="square" lIns="0" tIns="0" rIns="0" bIns="0" anchor="t"/>
          <a:lstStyle/>
          <a:p>
            <a:pPr algn="l">
              <a:lnSpc>
                <a:spcPct val="110000"/>
              </a:lnSpc>
              <a:spcAft>
                <a:spcPts val="0"/>
              </a:spcAft>
            </a:pPr>
            <a:r>
              <a:rPr lang="pl-PL" sz="1440" b="1" dirty="0">
                <a:solidFill>
                  <a:srgbClr val="A79AFF"/>
                </a:solidFill>
                <a:latin typeface="Lato"/>
                <a:ea typeface="Lato"/>
                <a:cs typeface="Lato"/>
              </a:rPr>
              <a:t>01</a:t>
            </a:r>
            <a:endParaRPr lang="pl-PL" sz="1440"/>
          </a:p>
        </p:txBody>
      </p:sp>
      <p:sp>
        <p:nvSpPr>
          <p:cNvPr id="16" name="Shape 16"/>
          <p:cNvSpPr/>
          <p:nvPr/>
        </p:nvSpPr>
        <p:spPr>
          <a:xfrm>
            <a:off x="7940040" y="2674620"/>
            <a:ext cx="320040" cy="30480"/>
          </a:xfrm>
          <a:prstGeom prst="rect">
            <a:avLst/>
          </a:prstGeom>
          <a:solidFill>
            <a:srgbClr val="A79AFF"/>
          </a:solidFill>
          <a:ln>
            <a:noFill/>
          </a:ln>
        </p:spPr>
      </p:sp>
      <p:sp>
        <p:nvSpPr>
          <p:cNvPr id="17" name="Text 17"/>
          <p:cNvSpPr txBox="1"/>
          <p:nvPr/>
        </p:nvSpPr>
        <p:spPr>
          <a:xfrm>
            <a:off x="8488680" y="2263140"/>
            <a:ext cx="2964180" cy="800100"/>
          </a:xfrm>
          <a:prstGeom prst="rect">
            <a:avLst/>
          </a:prstGeom>
          <a:noFill/>
          <a:ln>
            <a:noFill/>
          </a:ln>
        </p:spPr>
        <p:txBody>
          <a:bodyPr wrap="square" lIns="0" tIns="0" rIns="0" bIns="0" anchor="t"/>
          <a:lstStyle/>
          <a:p>
            <a:pPr algn="l">
              <a:lnSpc>
                <a:spcPct val="110000"/>
              </a:lnSpc>
              <a:spcAft>
                <a:spcPts val="0"/>
              </a:spcAft>
            </a:pPr>
            <a:r>
              <a:rPr lang="pl-PL" sz="2100" b="1" dirty="0">
                <a:solidFill>
                  <a:srgbClr val="F1F4FC"/>
                </a:solidFill>
                <a:latin typeface="Lato"/>
                <a:ea typeface="Lato"/>
                <a:cs typeface="Lato"/>
              </a:rPr>
              <a:t>Wyczucie właściwego momentu</a:t>
            </a:r>
            <a:endParaRPr lang="pl-PL" sz="2100"/>
          </a:p>
        </p:txBody>
      </p:sp>
      <p:sp>
        <p:nvSpPr>
          <p:cNvPr id="18" name="Text 18"/>
          <p:cNvSpPr txBox="1"/>
          <p:nvPr/>
        </p:nvSpPr>
        <p:spPr>
          <a:xfrm>
            <a:off x="7940040" y="3406140"/>
            <a:ext cx="655320" cy="281940"/>
          </a:xfrm>
          <a:prstGeom prst="rect">
            <a:avLst/>
          </a:prstGeom>
          <a:noFill/>
          <a:ln>
            <a:noFill/>
          </a:ln>
        </p:spPr>
        <p:txBody>
          <a:bodyPr wrap="square" lIns="0" tIns="0" rIns="0" bIns="0" anchor="t"/>
          <a:lstStyle/>
          <a:p>
            <a:pPr algn="l">
              <a:lnSpc>
                <a:spcPct val="110000"/>
              </a:lnSpc>
              <a:spcAft>
                <a:spcPts val="0"/>
              </a:spcAft>
            </a:pPr>
            <a:r>
              <a:rPr lang="pl-PL" sz="1440" b="1" dirty="0">
                <a:solidFill>
                  <a:srgbClr val="73E2CE"/>
                </a:solidFill>
                <a:latin typeface="Lato"/>
                <a:ea typeface="Lato"/>
                <a:cs typeface="Lato"/>
              </a:rPr>
              <a:t>02</a:t>
            </a:r>
            <a:endParaRPr lang="pl-PL" sz="1440"/>
          </a:p>
        </p:txBody>
      </p:sp>
      <p:sp>
        <p:nvSpPr>
          <p:cNvPr id="19" name="Shape 19"/>
          <p:cNvSpPr/>
          <p:nvPr/>
        </p:nvSpPr>
        <p:spPr>
          <a:xfrm>
            <a:off x="7940040" y="3802380"/>
            <a:ext cx="320040" cy="30480"/>
          </a:xfrm>
          <a:prstGeom prst="rect">
            <a:avLst/>
          </a:prstGeom>
          <a:solidFill>
            <a:srgbClr val="73E2CE"/>
          </a:solidFill>
          <a:ln>
            <a:noFill/>
          </a:ln>
        </p:spPr>
      </p:sp>
      <p:sp>
        <p:nvSpPr>
          <p:cNvPr id="20" name="Text 20"/>
          <p:cNvSpPr txBox="1"/>
          <p:nvPr/>
        </p:nvSpPr>
        <p:spPr>
          <a:xfrm>
            <a:off x="8488680" y="3390900"/>
            <a:ext cx="2964180" cy="800100"/>
          </a:xfrm>
          <a:prstGeom prst="rect">
            <a:avLst/>
          </a:prstGeom>
          <a:noFill/>
          <a:ln>
            <a:noFill/>
          </a:ln>
        </p:spPr>
        <p:txBody>
          <a:bodyPr wrap="square" lIns="0" tIns="0" rIns="0" bIns="0" anchor="t"/>
          <a:lstStyle/>
          <a:p>
            <a:pPr algn="l">
              <a:lnSpc>
                <a:spcPct val="110000"/>
              </a:lnSpc>
              <a:spcAft>
                <a:spcPts val="0"/>
              </a:spcAft>
            </a:pPr>
            <a:r>
              <a:rPr lang="pl-PL" sz="2100" b="1" dirty="0">
                <a:solidFill>
                  <a:srgbClr val="F1F4FC"/>
                </a:solidFill>
                <a:latin typeface="Lato"/>
                <a:ea typeface="Lato"/>
                <a:cs typeface="Lato"/>
              </a:rPr>
              <a:t>Odkrywanie zależności</a:t>
            </a:r>
            <a:endParaRPr lang="pl-PL" sz="2100"/>
          </a:p>
        </p:txBody>
      </p:sp>
      <p:sp>
        <p:nvSpPr>
          <p:cNvPr id="21" name="Text 21"/>
          <p:cNvSpPr txBox="1"/>
          <p:nvPr/>
        </p:nvSpPr>
        <p:spPr>
          <a:xfrm>
            <a:off x="7940040" y="4533900"/>
            <a:ext cx="655320" cy="281940"/>
          </a:xfrm>
          <a:prstGeom prst="rect">
            <a:avLst/>
          </a:prstGeom>
          <a:noFill/>
          <a:ln>
            <a:noFill/>
          </a:ln>
        </p:spPr>
        <p:txBody>
          <a:bodyPr wrap="square" lIns="0" tIns="0" rIns="0" bIns="0" anchor="t"/>
          <a:lstStyle/>
          <a:p>
            <a:pPr algn="l">
              <a:lnSpc>
                <a:spcPct val="110000"/>
              </a:lnSpc>
              <a:spcAft>
                <a:spcPts val="0"/>
              </a:spcAft>
            </a:pPr>
            <a:r>
              <a:rPr lang="pl-PL" sz="1440" b="1" dirty="0">
                <a:solidFill>
                  <a:srgbClr val="FFB477"/>
                </a:solidFill>
                <a:latin typeface="Lato"/>
                <a:ea typeface="Lato"/>
                <a:cs typeface="Lato"/>
              </a:rPr>
              <a:t>03</a:t>
            </a:r>
            <a:endParaRPr lang="pl-PL" sz="1440"/>
          </a:p>
        </p:txBody>
      </p:sp>
      <p:sp>
        <p:nvSpPr>
          <p:cNvPr id="22" name="Shape 22"/>
          <p:cNvSpPr/>
          <p:nvPr/>
        </p:nvSpPr>
        <p:spPr>
          <a:xfrm>
            <a:off x="7940040" y="4930140"/>
            <a:ext cx="320040" cy="30480"/>
          </a:xfrm>
          <a:prstGeom prst="rect">
            <a:avLst/>
          </a:prstGeom>
          <a:solidFill>
            <a:srgbClr val="FFB477"/>
          </a:solidFill>
          <a:ln>
            <a:noFill/>
          </a:ln>
        </p:spPr>
      </p:sp>
      <p:sp>
        <p:nvSpPr>
          <p:cNvPr id="23" name="Text 23"/>
          <p:cNvSpPr txBox="1"/>
          <p:nvPr/>
        </p:nvSpPr>
        <p:spPr>
          <a:xfrm>
            <a:off x="8488680" y="4518660"/>
            <a:ext cx="2964180" cy="800100"/>
          </a:xfrm>
          <a:prstGeom prst="rect">
            <a:avLst/>
          </a:prstGeom>
          <a:noFill/>
          <a:ln>
            <a:noFill/>
          </a:ln>
        </p:spPr>
        <p:txBody>
          <a:bodyPr wrap="square" lIns="0" tIns="0" rIns="0" bIns="0" anchor="t"/>
          <a:lstStyle/>
          <a:p>
            <a:pPr algn="l">
              <a:lnSpc>
                <a:spcPct val="110000"/>
              </a:lnSpc>
              <a:spcAft>
                <a:spcPts val="0"/>
              </a:spcAft>
            </a:pPr>
            <a:r>
              <a:rPr lang="pl-PL" sz="2100" b="1" dirty="0">
                <a:solidFill>
                  <a:srgbClr val="F1F4FC"/>
                </a:solidFill>
                <a:latin typeface="Lato"/>
                <a:ea typeface="Lato"/>
                <a:cs typeface="Lato"/>
              </a:rPr>
              <a:t>Coraz płynniejsze przejścia</a:t>
            </a:r>
            <a:endParaRPr lang="pl-PL" sz="21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Pierwszy obraz świata Feedbac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06 / PIERWSZY KIERUNEK WIZUALNY</a:t>
            </a:r>
            <a:endParaRPr lang="pl-PL" sz="1140"/>
          </a:p>
        </p:txBody>
      </p:sp>
      <p:cxnSp>
        <p:nvCxnSpPr>
          <p:cNvPr id="4" name="Line 4"/>
          <p:cNvCxnSpPr/>
          <p:nvPr/>
        </p:nvCxnSpPr>
        <p:spPr>
          <a:xfrm>
            <a:off x="548640" y="6393180"/>
            <a:ext cx="11094720" cy="0"/>
          </a:xfrm>
          <a:prstGeom prst="line">
            <a:avLst/>
          </a:prstGeom>
          <a:ln w="7620" cap="rnd">
            <a:solidFill>
              <a:srgbClr val="253149"/>
            </a:solidFill>
          </a:ln>
        </p:spPr>
      </p:cxnSp>
      <p:sp>
        <p:nvSpPr>
          <p:cNvPr id="5" name="Text 5"/>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6" name="Text 6"/>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Oryginalny mockup • Figma Make</a:t>
            </a:r>
            <a:endParaRPr lang="pl-PL" sz="1020"/>
          </a:p>
        </p:txBody>
      </p:sp>
      <p:sp>
        <p:nvSpPr>
          <p:cNvPr id="7" name="Text 7"/>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07</a:t>
            </a:r>
            <a:endParaRPr lang="pl-PL" sz="1200"/>
          </a:p>
        </p:txBody>
      </p:sp>
      <p:sp>
        <p:nvSpPr>
          <p:cNvPr id="8" name="Shape 8"/>
          <p:cNvSpPr/>
          <p:nvPr/>
        </p:nvSpPr>
        <p:spPr>
          <a:xfrm>
            <a:off x="548640" y="845820"/>
            <a:ext cx="6042660" cy="5105400"/>
          </a:xfrm>
          <a:prstGeom prst="rect">
            <a:avLst/>
          </a:prstGeom>
          <a:solidFill>
            <a:srgbClr val="171E31"/>
          </a:solidFill>
          <a:ln w="7620">
            <a:solidFill>
              <a:srgbClr val="253149"/>
            </a:solidFill>
          </a:ln>
        </p:spPr>
      </p:sp>
      <p:pic>
        <p:nvPicPr>
          <p:cNvPr id="9" name="figma-menu.png" descr="Grafika odzyskana z Feedback mockup.make; statyczny kadr makiety."/>
          <p:cNvPicPr>
            <a:picLocks noChangeAspect="1"/>
          </p:cNvPicPr>
          <p:nvPr/>
        </p:nvPicPr>
        <p:blipFill>
          <a:blip r:embed="img1"/>
          <a:stretch>
            <a:fillRect/>
          </a:stretch>
        </p:blipFill>
        <p:spPr>
          <a:xfrm>
            <a:off x="624840" y="922020"/>
            <a:ext cx="5890260" cy="4969907"/>
          </a:xfrm>
          <a:prstGeom prst="rect">
            <a:avLst/>
          </a:prstGeom>
        </p:spPr>
      </p:pic>
      <p:sp>
        <p:nvSpPr>
          <p:cNvPr id="10" name="Shape 10"/>
          <p:cNvSpPr/>
          <p:nvPr/>
        </p:nvSpPr>
        <p:spPr>
          <a:xfrm>
            <a:off x="7094220" y="1112520"/>
            <a:ext cx="2331720" cy="289560"/>
          </a:xfrm>
          <a:prstGeom prst="rect">
            <a:avLst/>
          </a:prstGeom>
          <a:solidFill>
            <a:srgbClr val="171E31"/>
          </a:solidFill>
          <a:ln w="7620">
            <a:solidFill>
              <a:srgbClr val="73E2CE"/>
            </a:solidFill>
          </a:ln>
        </p:spPr>
      </p:sp>
      <p:sp>
        <p:nvSpPr>
          <p:cNvPr id="11" name="Text 11"/>
          <p:cNvSpPr txBox="1"/>
          <p:nvPr/>
        </p:nvSpPr>
        <p:spPr>
          <a:xfrm>
            <a:off x="7200900" y="1165860"/>
            <a:ext cx="2118360" cy="198120"/>
          </a:xfrm>
          <a:prstGeom prst="rect">
            <a:avLst/>
          </a:prstGeom>
          <a:noFill/>
          <a:ln>
            <a:noFill/>
          </a:ln>
        </p:spPr>
        <p:txBody>
          <a:bodyPr wrap="square" lIns="0" tIns="0" rIns="0" bIns="0" anchor="t"/>
          <a:lstStyle/>
          <a:p>
            <a:pPr algn="l">
              <a:lnSpc>
                <a:spcPct val="110000"/>
              </a:lnSpc>
              <a:spcAft>
                <a:spcPts val="0"/>
              </a:spcAft>
            </a:pPr>
            <a:r>
              <a:rPr lang="pl-PL" sz="1080" b="1" dirty="0">
                <a:solidFill>
                  <a:srgbClr val="73E2CE"/>
                </a:solidFill>
                <a:latin typeface="Lato"/>
                <a:ea typeface="Lato"/>
                <a:cs typeface="Lato"/>
              </a:rPr>
              <a:t>ISTNIEJĄCY MOCKUP</a:t>
            </a:r>
            <a:endParaRPr lang="pl-PL" sz="1080"/>
          </a:p>
        </p:txBody>
      </p:sp>
      <p:sp>
        <p:nvSpPr>
          <p:cNvPr id="12" name="Text 12"/>
          <p:cNvSpPr txBox="1"/>
          <p:nvPr/>
        </p:nvSpPr>
        <p:spPr>
          <a:xfrm>
            <a:off x="7086600" y="1790700"/>
            <a:ext cx="4533900" cy="1181100"/>
          </a:xfrm>
          <a:prstGeom prst="rect">
            <a:avLst/>
          </a:prstGeom>
          <a:noFill/>
          <a:ln>
            <a:noFill/>
          </a:ln>
        </p:spPr>
        <p:txBody>
          <a:bodyPr wrap="square" lIns="0" tIns="0" rIns="0" bIns="0" anchor="t"/>
          <a:lstStyle/>
          <a:p>
            <a:pPr algn="l">
              <a:lnSpc>
                <a:spcPct val="110000"/>
              </a:lnSpc>
              <a:spcAft>
                <a:spcPts val="0"/>
              </a:spcAft>
            </a:pPr>
            <a:r>
              <a:rPr lang="pl-PL" sz="3540" b="1" dirty="0">
                <a:solidFill>
                  <a:srgbClr val="F1F4FC"/>
                </a:solidFill>
                <a:latin typeface="Lato"/>
                <a:ea typeface="Lato"/>
                <a:cs typeface="Lato"/>
              </a:rPr>
              <a:t>Pierwszy obraz</a:t>
            </a:r>
            <a:endParaRPr lang="pl-PL" sz="3540"/>
          </a:p>
          <a:p>
            <a:pPr algn="l">
              <a:lnSpc>
                <a:spcPct val="110000"/>
              </a:lnSpc>
              <a:spcAft>
                <a:spcPts val="0"/>
              </a:spcAft>
            </a:pPr>
            <a:r>
              <a:rPr lang="pl-PL" sz="3540" b="1" dirty="0">
                <a:solidFill>
                  <a:srgbClr val="F1F4FC"/>
                </a:solidFill>
                <a:latin typeface="Lato"/>
                <a:ea typeface="Lato"/>
                <a:cs typeface="Lato"/>
              </a:rPr>
              <a:t>świata Feedback.</a:t>
            </a:r>
            <a:endParaRPr lang="pl-PL" sz="3540"/>
          </a:p>
        </p:txBody>
      </p:sp>
      <p:pic>
        <p:nvPicPr>
          <p:cNvPr id="13" name="figma-characters/player-idle.png" descr="Grafika odzyskana z Feedback mockup.make; statyczny kadr makiety."/>
          <p:cNvPicPr>
            <a:picLocks noChangeAspect="1"/>
          </p:cNvPicPr>
          <p:nvPr/>
        </p:nvPicPr>
        <p:blipFill>
          <a:blip r:embed="img2"/>
          <a:stretch>
            <a:fillRect/>
          </a:stretch>
        </p:blipFill>
        <p:spPr>
          <a:xfrm>
            <a:off x="7078980" y="3345180"/>
            <a:ext cx="1714500" cy="1524000"/>
          </a:xfrm>
          <a:prstGeom prst="rect">
            <a:avLst/>
          </a:prstGeom>
        </p:spPr>
      </p:pic>
      <p:pic>
        <p:nvPicPr>
          <p:cNvPr id="14" name="figma-characters/player-parry.png" descr="Grafika odzyskana z Feedback mockup.make; statyczny kadr makiety."/>
          <p:cNvPicPr>
            <a:picLocks noChangeAspect="1"/>
          </p:cNvPicPr>
          <p:nvPr/>
        </p:nvPicPr>
        <p:blipFill>
          <a:blip r:embed="img3"/>
          <a:stretch>
            <a:fillRect/>
          </a:stretch>
        </p:blipFill>
        <p:spPr>
          <a:xfrm>
            <a:off x="9364980" y="3345180"/>
            <a:ext cx="1714500" cy="1524000"/>
          </a:xfrm>
          <a:prstGeom prst="rect">
            <a:avLst/>
          </a:prstGeom>
        </p:spPr>
      </p:pic>
      <p:sp>
        <p:nvSpPr>
          <p:cNvPr id="15" name="Text 15"/>
          <p:cNvSpPr txBox="1"/>
          <p:nvPr/>
        </p:nvSpPr>
        <p:spPr>
          <a:xfrm>
            <a:off x="7078980" y="5021580"/>
            <a:ext cx="1714500" cy="304800"/>
          </a:xfrm>
          <a:prstGeom prst="rect">
            <a:avLst/>
          </a:prstGeom>
          <a:noFill/>
          <a:ln>
            <a:noFill/>
          </a:ln>
        </p:spPr>
        <p:txBody>
          <a:bodyPr wrap="square" lIns="0" tIns="0" rIns="0" bIns="0" anchor="t"/>
          <a:lstStyle/>
          <a:p>
            <a:pPr algn="ctr">
              <a:lnSpc>
                <a:spcPct val="110000"/>
              </a:lnSpc>
              <a:spcAft>
                <a:spcPts val="0"/>
              </a:spcAft>
            </a:pPr>
            <a:r>
              <a:rPr lang="pl-PL" sz="1500" b="0" dirty="0">
                <a:solidFill>
                  <a:srgbClr val="9FADC5"/>
                </a:solidFill>
                <a:latin typeface="Lato"/>
                <a:ea typeface="Lato"/>
                <a:cs typeface="Lato"/>
              </a:rPr>
              <a:t>Spoczynek</a:t>
            </a:r>
            <a:endParaRPr lang="pl-PL" sz="1500"/>
          </a:p>
        </p:txBody>
      </p:sp>
      <p:sp>
        <p:nvSpPr>
          <p:cNvPr id="16" name="Text 16"/>
          <p:cNvSpPr txBox="1"/>
          <p:nvPr/>
        </p:nvSpPr>
        <p:spPr>
          <a:xfrm>
            <a:off x="9364980" y="5021580"/>
            <a:ext cx="1714500" cy="304800"/>
          </a:xfrm>
          <a:prstGeom prst="rect">
            <a:avLst/>
          </a:prstGeom>
          <a:noFill/>
          <a:ln>
            <a:noFill/>
          </a:ln>
        </p:spPr>
        <p:txBody>
          <a:bodyPr wrap="square" lIns="0" tIns="0" rIns="0" bIns="0" anchor="t"/>
          <a:lstStyle/>
          <a:p>
            <a:pPr algn="ctr">
              <a:lnSpc>
                <a:spcPct val="110000"/>
              </a:lnSpc>
              <a:spcAft>
                <a:spcPts val="0"/>
              </a:spcAft>
            </a:pPr>
            <a:r>
              <a:rPr lang="pl-PL" sz="1500" b="0" dirty="0">
                <a:solidFill>
                  <a:srgbClr val="9FADC5"/>
                </a:solidFill>
                <a:latin typeface="Lato"/>
                <a:ea typeface="Lato"/>
                <a:cs typeface="Lato"/>
              </a:rPr>
              <a:t>Parowanie</a:t>
            </a:r>
            <a:endParaRPr lang="pl-PL" sz="1500"/>
          </a:p>
        </p:txBody>
      </p:sp>
      <p:sp>
        <p:nvSpPr>
          <p:cNvPr id="17" name="Text 17"/>
          <p:cNvSpPr txBox="1"/>
          <p:nvPr/>
        </p:nvSpPr>
        <p:spPr>
          <a:xfrm>
            <a:off x="7109460" y="5570220"/>
            <a:ext cx="4419600" cy="434340"/>
          </a:xfrm>
          <a:prstGeom prst="rect">
            <a:avLst/>
          </a:prstGeom>
          <a:noFill/>
          <a:ln>
            <a:noFill/>
          </a:ln>
        </p:spPr>
        <p:txBody>
          <a:bodyPr wrap="square" lIns="0" tIns="0" rIns="0" bIns="0" anchor="t"/>
          <a:lstStyle/>
          <a:p>
            <a:pPr algn="l">
              <a:lnSpc>
                <a:spcPct val="110000"/>
              </a:lnSpc>
              <a:spcAft>
                <a:spcPts val="0"/>
              </a:spcAft>
            </a:pPr>
            <a:r>
              <a:rPr lang="pl-PL" sz="1320" b="0" dirty="0">
                <a:solidFill>
                  <a:srgbClr val="73E2CE"/>
                </a:solidFill>
                <a:latin typeface="Lato"/>
                <a:ea typeface="Lato"/>
                <a:cs typeface="Lato"/>
              </a:rPr>
              <a:t>Postać i menu z istniejącej makiety</a:t>
            </a:r>
            <a:endParaRPr lang="pl-PL" sz="132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Jedna mechanika. Różne wyzwania.">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07 / PLANOWANY PROTOTYP</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Jedna mechanika. Różne wyzwania.</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Zakres zapisany w specyfikacji • plan</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08</a:t>
            </a:r>
            <a:endParaRPr lang="pl-PL" sz="1200"/>
          </a:p>
        </p:txBody>
      </p:sp>
      <p:sp>
        <p:nvSpPr>
          <p:cNvPr id="9" name="Shape 9"/>
          <p:cNvSpPr/>
          <p:nvPr/>
        </p:nvSpPr>
        <p:spPr>
          <a:xfrm>
            <a:off x="548640" y="2004060"/>
            <a:ext cx="3566160" cy="3360420"/>
          </a:xfrm>
          <a:prstGeom prst="rect">
            <a:avLst/>
          </a:prstGeom>
          <a:solidFill>
            <a:srgbClr val="171E31"/>
          </a:solidFill>
          <a:ln>
            <a:noFill/>
          </a:ln>
        </p:spPr>
      </p:sp>
      <p:sp>
        <p:nvSpPr>
          <p:cNvPr id="10" name="Text 10"/>
          <p:cNvSpPr txBox="1"/>
          <p:nvPr/>
        </p:nvSpPr>
        <p:spPr>
          <a:xfrm>
            <a:off x="769620" y="2148840"/>
            <a:ext cx="3048000" cy="1607820"/>
          </a:xfrm>
          <a:prstGeom prst="rect">
            <a:avLst/>
          </a:prstGeom>
          <a:noFill/>
          <a:ln>
            <a:noFill/>
          </a:ln>
        </p:spPr>
        <p:txBody>
          <a:bodyPr wrap="square" lIns="0" tIns="0" rIns="0" bIns="0" anchor="t"/>
          <a:lstStyle/>
          <a:p>
            <a:pPr algn="l">
              <a:lnSpc>
                <a:spcPct val="110000"/>
              </a:lnSpc>
              <a:spcAft>
                <a:spcPts val="0"/>
              </a:spcAft>
            </a:pPr>
            <a:r>
              <a:rPr lang="pl-PL" sz="10680" b="1" dirty="0">
                <a:solidFill>
                  <a:srgbClr val="73E2CE"/>
                </a:solidFill>
                <a:latin typeface="Lato"/>
                <a:ea typeface="Lato"/>
                <a:cs typeface="Lato"/>
              </a:rPr>
              <a:t>3</a:t>
            </a:r>
            <a:endParaRPr lang="pl-PL" sz="10680"/>
          </a:p>
        </p:txBody>
      </p:sp>
      <p:sp>
        <p:nvSpPr>
          <p:cNvPr id="11" name="Text 11"/>
          <p:cNvSpPr txBox="1"/>
          <p:nvPr/>
        </p:nvSpPr>
        <p:spPr>
          <a:xfrm>
            <a:off x="777240" y="3924300"/>
            <a:ext cx="3108960" cy="518160"/>
          </a:xfrm>
          <a:prstGeom prst="rect">
            <a:avLst/>
          </a:prstGeom>
          <a:noFill/>
          <a:ln>
            <a:noFill/>
          </a:ln>
        </p:spPr>
        <p:txBody>
          <a:bodyPr wrap="square" lIns="0" tIns="0" rIns="0" bIns="0" anchor="t"/>
          <a:lstStyle/>
          <a:p>
            <a:pPr algn="l">
              <a:lnSpc>
                <a:spcPct val="110000"/>
              </a:lnSpc>
              <a:spcAft>
                <a:spcPts val="0"/>
              </a:spcAft>
            </a:pPr>
            <a:r>
              <a:rPr lang="pl-PL" sz="2400" b="1" dirty="0">
                <a:solidFill>
                  <a:srgbClr val="F1F4FC"/>
                </a:solidFill>
                <a:latin typeface="Lato"/>
                <a:ea typeface="Lato"/>
                <a:cs typeface="Lato"/>
              </a:rPr>
              <a:t>poziomy</a:t>
            </a:r>
            <a:endParaRPr lang="pl-PL" sz="2400"/>
          </a:p>
        </p:txBody>
      </p:sp>
      <p:sp>
        <p:nvSpPr>
          <p:cNvPr id="12" name="Text 12"/>
          <p:cNvSpPr txBox="1"/>
          <p:nvPr/>
        </p:nvSpPr>
        <p:spPr>
          <a:xfrm>
            <a:off x="777240" y="4701540"/>
            <a:ext cx="3124200" cy="41148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Zagadki o rosnącej złożoności</a:t>
            </a:r>
            <a:endParaRPr lang="pl-PL" sz="1500"/>
          </a:p>
        </p:txBody>
      </p:sp>
      <p:sp>
        <p:nvSpPr>
          <p:cNvPr id="13" name="Shape 13"/>
          <p:cNvSpPr/>
          <p:nvPr/>
        </p:nvSpPr>
        <p:spPr>
          <a:xfrm>
            <a:off x="4312920" y="2004060"/>
            <a:ext cx="3566160" cy="3360420"/>
          </a:xfrm>
          <a:prstGeom prst="rect">
            <a:avLst/>
          </a:prstGeom>
          <a:solidFill>
            <a:srgbClr val="171E31"/>
          </a:solidFill>
          <a:ln>
            <a:noFill/>
          </a:ln>
        </p:spPr>
      </p:sp>
      <p:sp>
        <p:nvSpPr>
          <p:cNvPr id="14" name="Text 14"/>
          <p:cNvSpPr txBox="1"/>
          <p:nvPr/>
        </p:nvSpPr>
        <p:spPr>
          <a:xfrm>
            <a:off x="4533900" y="2148840"/>
            <a:ext cx="3048000" cy="1607820"/>
          </a:xfrm>
          <a:prstGeom prst="rect">
            <a:avLst/>
          </a:prstGeom>
          <a:noFill/>
          <a:ln>
            <a:noFill/>
          </a:ln>
        </p:spPr>
        <p:txBody>
          <a:bodyPr wrap="square" lIns="0" tIns="0" rIns="0" bIns="0" anchor="t"/>
          <a:lstStyle/>
          <a:p>
            <a:pPr algn="l">
              <a:lnSpc>
                <a:spcPct val="110000"/>
              </a:lnSpc>
              <a:spcAft>
                <a:spcPts val="0"/>
              </a:spcAft>
            </a:pPr>
            <a:r>
              <a:rPr lang="pl-PL" sz="10680" b="1" dirty="0">
                <a:solidFill>
                  <a:srgbClr val="FFB477"/>
                </a:solidFill>
                <a:latin typeface="Lato"/>
                <a:ea typeface="Lato"/>
                <a:cs typeface="Lato"/>
              </a:rPr>
              <a:t>2</a:t>
            </a:r>
            <a:endParaRPr lang="pl-PL" sz="10680"/>
          </a:p>
        </p:txBody>
      </p:sp>
      <p:sp>
        <p:nvSpPr>
          <p:cNvPr id="15" name="Text 15"/>
          <p:cNvSpPr txBox="1"/>
          <p:nvPr/>
        </p:nvSpPr>
        <p:spPr>
          <a:xfrm>
            <a:off x="4541520" y="3924300"/>
            <a:ext cx="3108960" cy="518160"/>
          </a:xfrm>
          <a:prstGeom prst="rect">
            <a:avLst/>
          </a:prstGeom>
          <a:noFill/>
          <a:ln>
            <a:noFill/>
          </a:ln>
        </p:spPr>
        <p:txBody>
          <a:bodyPr wrap="square" lIns="0" tIns="0" rIns="0" bIns="0" anchor="t"/>
          <a:lstStyle/>
          <a:p>
            <a:pPr algn="l">
              <a:lnSpc>
                <a:spcPct val="110000"/>
              </a:lnSpc>
              <a:spcAft>
                <a:spcPts val="0"/>
              </a:spcAft>
            </a:pPr>
            <a:r>
              <a:rPr lang="pl-PL" sz="2400" b="1" dirty="0">
                <a:solidFill>
                  <a:srgbClr val="F1F4FC"/>
                </a:solidFill>
                <a:latin typeface="Lato"/>
                <a:ea typeface="Lato"/>
                <a:cs typeface="Lato"/>
              </a:rPr>
              <a:t>typy przeciwników</a:t>
            </a:r>
            <a:endParaRPr lang="pl-PL" sz="2400"/>
          </a:p>
        </p:txBody>
      </p:sp>
      <p:sp>
        <p:nvSpPr>
          <p:cNvPr id="16" name="Text 16"/>
          <p:cNvSpPr txBox="1"/>
          <p:nvPr/>
        </p:nvSpPr>
        <p:spPr>
          <a:xfrm>
            <a:off x="4541520" y="4701540"/>
            <a:ext cx="3124200" cy="41148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Atak dystansowy i fizyczny</a:t>
            </a:r>
            <a:endParaRPr lang="pl-PL" sz="1500"/>
          </a:p>
        </p:txBody>
      </p:sp>
      <p:sp>
        <p:nvSpPr>
          <p:cNvPr id="17" name="Shape 17"/>
          <p:cNvSpPr/>
          <p:nvPr/>
        </p:nvSpPr>
        <p:spPr>
          <a:xfrm>
            <a:off x="8077200" y="2004060"/>
            <a:ext cx="3566160" cy="3360420"/>
          </a:xfrm>
          <a:prstGeom prst="rect">
            <a:avLst/>
          </a:prstGeom>
          <a:solidFill>
            <a:srgbClr val="171E31"/>
          </a:solidFill>
          <a:ln>
            <a:noFill/>
          </a:ln>
        </p:spPr>
      </p:sp>
      <p:sp>
        <p:nvSpPr>
          <p:cNvPr id="18" name="Text 18"/>
          <p:cNvSpPr txBox="1"/>
          <p:nvPr/>
        </p:nvSpPr>
        <p:spPr>
          <a:xfrm>
            <a:off x="8298180" y="2148840"/>
            <a:ext cx="3048000" cy="1607820"/>
          </a:xfrm>
          <a:prstGeom prst="rect">
            <a:avLst/>
          </a:prstGeom>
          <a:noFill/>
          <a:ln>
            <a:noFill/>
          </a:ln>
        </p:spPr>
        <p:txBody>
          <a:bodyPr wrap="square" lIns="0" tIns="0" rIns="0" bIns="0" anchor="t"/>
          <a:lstStyle/>
          <a:p>
            <a:pPr algn="l">
              <a:lnSpc>
                <a:spcPct val="110000"/>
              </a:lnSpc>
              <a:spcAft>
                <a:spcPts val="0"/>
              </a:spcAft>
            </a:pPr>
            <a:r>
              <a:rPr lang="pl-PL" sz="10680" b="1" dirty="0">
                <a:solidFill>
                  <a:srgbClr val="A79AFF"/>
                </a:solidFill>
                <a:latin typeface="Lato"/>
                <a:ea typeface="Lato"/>
                <a:cs typeface="Lato"/>
              </a:rPr>
              <a:t>3</a:t>
            </a:r>
            <a:endParaRPr lang="pl-PL" sz="10680"/>
          </a:p>
        </p:txBody>
      </p:sp>
      <p:sp>
        <p:nvSpPr>
          <p:cNvPr id="19" name="Text 19"/>
          <p:cNvSpPr txBox="1"/>
          <p:nvPr/>
        </p:nvSpPr>
        <p:spPr>
          <a:xfrm>
            <a:off x="8305800" y="3924300"/>
            <a:ext cx="3108960" cy="518160"/>
          </a:xfrm>
          <a:prstGeom prst="rect">
            <a:avLst/>
          </a:prstGeom>
          <a:noFill/>
          <a:ln>
            <a:noFill/>
          </a:ln>
        </p:spPr>
        <p:txBody>
          <a:bodyPr wrap="square" lIns="0" tIns="0" rIns="0" bIns="0" anchor="t"/>
          <a:lstStyle/>
          <a:p>
            <a:pPr algn="l">
              <a:lnSpc>
                <a:spcPct val="110000"/>
              </a:lnSpc>
              <a:spcAft>
                <a:spcPts val="0"/>
              </a:spcAft>
            </a:pPr>
            <a:r>
              <a:rPr lang="pl-PL" sz="2400" b="1" dirty="0">
                <a:solidFill>
                  <a:srgbClr val="F1F4FC"/>
                </a:solidFill>
                <a:latin typeface="Lato"/>
                <a:ea typeface="Lato"/>
                <a:cs typeface="Lato"/>
              </a:rPr>
              <a:t>podstawowe akcje</a:t>
            </a:r>
            <a:endParaRPr lang="pl-PL" sz="2400"/>
          </a:p>
        </p:txBody>
      </p:sp>
      <p:sp>
        <p:nvSpPr>
          <p:cNvPr id="20" name="Text 20"/>
          <p:cNvSpPr txBox="1"/>
          <p:nvPr/>
        </p:nvSpPr>
        <p:spPr>
          <a:xfrm>
            <a:off x="8305800" y="4701540"/>
            <a:ext cx="3124200" cy="41148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Ruch · skok · parowanie</a:t>
            </a:r>
            <a:endParaRPr lang="pl-PL" sz="1500"/>
          </a:p>
        </p:txBody>
      </p:sp>
      <p:sp>
        <p:nvSpPr>
          <p:cNvPr id="21" name="Text 21"/>
          <p:cNvSpPr txBox="1"/>
          <p:nvPr/>
        </p:nvSpPr>
        <p:spPr>
          <a:xfrm>
            <a:off x="579120" y="5730240"/>
            <a:ext cx="11094720" cy="396240"/>
          </a:xfrm>
          <a:prstGeom prst="rect">
            <a:avLst/>
          </a:prstGeom>
          <a:noFill/>
          <a:ln>
            <a:noFill/>
          </a:ln>
        </p:spPr>
        <p:txBody>
          <a:bodyPr wrap="square" lIns="0" tIns="0" rIns="0" bIns="0" anchor="t"/>
          <a:lstStyle/>
          <a:p>
            <a:pPr algn="l">
              <a:lnSpc>
                <a:spcPct val="110000"/>
              </a:lnSpc>
              <a:spcAft>
                <a:spcPts val="0"/>
              </a:spcAft>
            </a:pPr>
            <a:r>
              <a:rPr lang="pl-PL" sz="2220" b="1" dirty="0">
                <a:solidFill>
                  <a:srgbClr val="F1F4FC"/>
                </a:solidFill>
                <a:latin typeface="Lato"/>
                <a:ea typeface="Lato"/>
                <a:cs typeface="Lato"/>
              </a:rPr>
              <a:t>Cel: sprawdzić, czy parowanie daje frajdę.</a:t>
            </a:r>
            <a:endParaRPr lang="pl-PL" sz="222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Feedbac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FEEDBACK</a:t>
            </a:r>
            <a:endParaRPr lang="pl-PL" sz="1140"/>
          </a:p>
        </p:txBody>
      </p:sp>
      <p:cxnSp>
        <p:nvCxnSpPr>
          <p:cNvPr id="4" name="Line 4"/>
          <p:cNvCxnSpPr/>
          <p:nvPr/>
        </p:nvCxnSpPr>
        <p:spPr>
          <a:xfrm>
            <a:off x="548640" y="6393180"/>
            <a:ext cx="11094720" cy="0"/>
          </a:xfrm>
          <a:prstGeom prst="line">
            <a:avLst/>
          </a:prstGeom>
          <a:ln w="7620" cap="rnd">
            <a:solidFill>
              <a:srgbClr val="253149"/>
            </a:solidFill>
          </a:ln>
        </p:spPr>
      </p:cxnSp>
      <p:sp>
        <p:nvSpPr>
          <p:cNvPr id="5" name="Text 5"/>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6" name="Text 6"/>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koncepcyjny</a:t>
            </a:r>
            <a:endParaRPr lang="pl-PL" sz="1020"/>
          </a:p>
        </p:txBody>
      </p:sp>
      <p:sp>
        <p:nvSpPr>
          <p:cNvPr id="7" name="Text 7"/>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09</a:t>
            </a:r>
            <a:endParaRPr lang="pl-PL" sz="1200"/>
          </a:p>
        </p:txBody>
      </p:sp>
      <p:sp>
        <p:nvSpPr>
          <p:cNvPr id="8" name="Text 8"/>
          <p:cNvSpPr txBox="1"/>
          <p:nvPr/>
        </p:nvSpPr>
        <p:spPr>
          <a:xfrm>
            <a:off x="548640" y="1234440"/>
            <a:ext cx="9067800" cy="1638300"/>
          </a:xfrm>
          <a:prstGeom prst="rect">
            <a:avLst/>
          </a:prstGeom>
          <a:noFill/>
          <a:ln>
            <a:noFill/>
          </a:ln>
        </p:spPr>
        <p:txBody>
          <a:bodyPr wrap="square" lIns="0" tIns="0" rIns="0" bIns="0" anchor="t"/>
          <a:lstStyle/>
          <a:p>
            <a:pPr algn="l">
              <a:lnSpc>
                <a:spcPct val="110000"/>
              </a:lnSpc>
              <a:spcAft>
                <a:spcPts val="0"/>
              </a:spcAft>
            </a:pPr>
            <a:r>
              <a:rPr lang="pl-PL" sz="5340" b="1" dirty="0">
                <a:solidFill>
                  <a:srgbClr val="F1F4FC"/>
                </a:solidFill>
                <a:latin typeface="Lato"/>
                <a:ea typeface="Lato"/>
                <a:cs typeface="Lato"/>
              </a:rPr>
              <a:t>Jak wykorzystasz</a:t>
            </a:r>
            <a:endParaRPr lang="pl-PL" sz="5340"/>
          </a:p>
          <a:p>
            <a:pPr algn="l">
              <a:lnSpc>
                <a:spcPct val="110000"/>
              </a:lnSpc>
              <a:spcAft>
                <a:spcPts val="0"/>
              </a:spcAft>
            </a:pPr>
            <a:r>
              <a:rPr lang="pl-PL" sz="5340" b="1" dirty="0">
                <a:solidFill>
                  <a:srgbClr val="F1F4FC"/>
                </a:solidFill>
                <a:latin typeface="Lato"/>
                <a:ea typeface="Lato"/>
                <a:cs typeface="Lato"/>
              </a:rPr>
              <a:t>następny atak?</a:t>
            </a:r>
            <a:endParaRPr lang="pl-PL" sz="5340"/>
          </a:p>
        </p:txBody>
      </p:sp>
      <p:sp>
        <p:nvSpPr>
          <p:cNvPr id="9" name="Text 9"/>
          <p:cNvSpPr txBox="1"/>
          <p:nvPr/>
        </p:nvSpPr>
        <p:spPr>
          <a:xfrm>
            <a:off x="594360" y="3429000"/>
            <a:ext cx="5943600" cy="403860"/>
          </a:xfrm>
          <a:prstGeom prst="rect">
            <a:avLst/>
          </a:prstGeom>
          <a:noFill/>
          <a:ln>
            <a:noFill/>
          </a:ln>
        </p:spPr>
        <p:txBody>
          <a:bodyPr wrap="square" lIns="0" tIns="0" rIns="0" bIns="0" anchor="t"/>
          <a:lstStyle/>
          <a:p>
            <a:pPr algn="l">
              <a:lnSpc>
                <a:spcPct val="110000"/>
              </a:lnSpc>
              <a:spcAft>
                <a:spcPts val="0"/>
              </a:spcAft>
            </a:pPr>
            <a:r>
              <a:rPr lang="pl-PL" sz="1920" b="0" dirty="0">
                <a:solidFill>
                  <a:srgbClr val="9FADC5"/>
                </a:solidFill>
                <a:latin typeface="Lato"/>
                <a:ea typeface="Lato"/>
                <a:cs typeface="Lato"/>
              </a:rPr>
              <a:t>Pytania i uwagi do koncepcji</a:t>
            </a:r>
            <a:endParaRPr lang="pl-PL" sz="1920"/>
          </a:p>
        </p:txBody>
      </p:sp>
      <p:sp>
        <p:nvSpPr>
          <p:cNvPr id="10" name="Text 10"/>
          <p:cNvSpPr txBox="1"/>
          <p:nvPr/>
        </p:nvSpPr>
        <p:spPr>
          <a:xfrm>
            <a:off x="594360" y="5516880"/>
            <a:ext cx="4419600" cy="434340"/>
          </a:xfrm>
          <a:prstGeom prst="rect">
            <a:avLst/>
          </a:prstGeom>
          <a:noFill/>
          <a:ln>
            <a:noFill/>
          </a:ln>
        </p:spPr>
        <p:txBody>
          <a:bodyPr wrap="square" lIns="0" tIns="0" rIns="0" bIns="0" anchor="t"/>
          <a:lstStyle/>
          <a:p>
            <a:pPr algn="l">
              <a:lnSpc>
                <a:spcPct val="110000"/>
              </a:lnSpc>
              <a:spcAft>
                <a:spcPts val="0"/>
              </a:spcAft>
            </a:pPr>
            <a:r>
              <a:rPr lang="pl-PL" sz="3180" b="1" dirty="0">
                <a:solidFill>
                  <a:srgbClr val="73E2CE"/>
                </a:solidFill>
                <a:latin typeface="Lato"/>
                <a:ea typeface="Lato"/>
                <a:cs typeface="Lato"/>
              </a:rPr>
              <a:t>FEEDBACK</a:t>
            </a:r>
            <a:endParaRPr lang="pl-PL" sz="3180"/>
          </a:p>
        </p:txBody>
      </p:sp>
      <p:sp>
        <p:nvSpPr>
          <p:cNvPr id="11" name="Shape 11"/>
          <p:cNvSpPr/>
          <p:nvPr/>
        </p:nvSpPr>
        <p:spPr>
          <a:xfrm>
            <a:off x="7101840" y="5646420"/>
            <a:ext cx="4290060" cy="152400"/>
          </a:xfrm>
          <a:prstGeom prst="rect">
            <a:avLst/>
          </a:prstGeom>
          <a:solidFill>
            <a:srgbClr val="253149"/>
          </a:solidFill>
          <a:ln>
            <a:noFill/>
          </a:ln>
        </p:spPr>
      </p:sp>
      <p:sp>
        <p:nvSpPr>
          <p:cNvPr id="12" name="Shape 12"/>
          <p:cNvSpPr/>
          <p:nvPr/>
        </p:nvSpPr>
        <p:spPr>
          <a:xfrm>
            <a:off x="7101840" y="5646420"/>
            <a:ext cx="4290060" cy="30480"/>
          </a:xfrm>
          <a:prstGeom prst="rect">
            <a:avLst/>
          </a:prstGeom>
          <a:solidFill>
            <a:srgbClr val="9FADC5"/>
          </a:solidFill>
          <a:ln>
            <a:noFill/>
          </a:ln>
        </p:spPr>
      </p:sp>
      <p:sp>
        <p:nvSpPr>
          <p:cNvPr id="13" name="Shape 13"/>
          <p:cNvSpPr/>
          <p:nvPr/>
        </p:nvSpPr>
        <p:spPr>
          <a:xfrm>
            <a:off x="7254240" y="5722620"/>
            <a:ext cx="137160" cy="30480"/>
          </a:xfrm>
          <a:prstGeom prst="rect">
            <a:avLst/>
          </a:prstGeom>
          <a:solidFill>
            <a:srgbClr val="171E31"/>
          </a:solidFill>
          <a:ln>
            <a:noFill/>
          </a:ln>
        </p:spPr>
      </p:sp>
      <p:sp>
        <p:nvSpPr>
          <p:cNvPr id="14" name="Shape 14"/>
          <p:cNvSpPr/>
          <p:nvPr/>
        </p:nvSpPr>
        <p:spPr>
          <a:xfrm>
            <a:off x="7749540" y="5722620"/>
            <a:ext cx="137160" cy="30480"/>
          </a:xfrm>
          <a:prstGeom prst="rect">
            <a:avLst/>
          </a:prstGeom>
          <a:solidFill>
            <a:srgbClr val="171E31"/>
          </a:solidFill>
          <a:ln>
            <a:noFill/>
          </a:ln>
        </p:spPr>
      </p:sp>
      <p:sp>
        <p:nvSpPr>
          <p:cNvPr id="15" name="Shape 15"/>
          <p:cNvSpPr/>
          <p:nvPr/>
        </p:nvSpPr>
        <p:spPr>
          <a:xfrm>
            <a:off x="8244840" y="5722620"/>
            <a:ext cx="137160" cy="30480"/>
          </a:xfrm>
          <a:prstGeom prst="rect">
            <a:avLst/>
          </a:prstGeom>
          <a:solidFill>
            <a:srgbClr val="171E31"/>
          </a:solidFill>
          <a:ln>
            <a:noFill/>
          </a:ln>
        </p:spPr>
      </p:sp>
      <p:sp>
        <p:nvSpPr>
          <p:cNvPr id="16" name="Shape 16"/>
          <p:cNvSpPr/>
          <p:nvPr/>
        </p:nvSpPr>
        <p:spPr>
          <a:xfrm>
            <a:off x="8740140" y="5722620"/>
            <a:ext cx="137160" cy="30480"/>
          </a:xfrm>
          <a:prstGeom prst="rect">
            <a:avLst/>
          </a:prstGeom>
          <a:solidFill>
            <a:srgbClr val="171E31"/>
          </a:solidFill>
          <a:ln>
            <a:noFill/>
          </a:ln>
        </p:spPr>
      </p:sp>
      <p:sp>
        <p:nvSpPr>
          <p:cNvPr id="17" name="Shape 17"/>
          <p:cNvSpPr/>
          <p:nvPr/>
        </p:nvSpPr>
        <p:spPr>
          <a:xfrm>
            <a:off x="9235440" y="5722620"/>
            <a:ext cx="137160" cy="30480"/>
          </a:xfrm>
          <a:prstGeom prst="rect">
            <a:avLst/>
          </a:prstGeom>
          <a:solidFill>
            <a:srgbClr val="171E31"/>
          </a:solidFill>
          <a:ln>
            <a:noFill/>
          </a:ln>
        </p:spPr>
      </p:sp>
      <p:sp>
        <p:nvSpPr>
          <p:cNvPr id="18" name="Shape 18"/>
          <p:cNvSpPr/>
          <p:nvPr/>
        </p:nvSpPr>
        <p:spPr>
          <a:xfrm>
            <a:off x="9730740" y="5722620"/>
            <a:ext cx="137160" cy="30480"/>
          </a:xfrm>
          <a:prstGeom prst="rect">
            <a:avLst/>
          </a:prstGeom>
          <a:solidFill>
            <a:srgbClr val="171E31"/>
          </a:solidFill>
          <a:ln>
            <a:noFill/>
          </a:ln>
        </p:spPr>
      </p:sp>
      <p:sp>
        <p:nvSpPr>
          <p:cNvPr id="19" name="Shape 19"/>
          <p:cNvSpPr/>
          <p:nvPr/>
        </p:nvSpPr>
        <p:spPr>
          <a:xfrm>
            <a:off x="10226040" y="5722620"/>
            <a:ext cx="137160" cy="30480"/>
          </a:xfrm>
          <a:prstGeom prst="rect">
            <a:avLst/>
          </a:prstGeom>
          <a:solidFill>
            <a:srgbClr val="171E31"/>
          </a:solidFill>
          <a:ln>
            <a:noFill/>
          </a:ln>
        </p:spPr>
      </p:sp>
      <p:sp>
        <p:nvSpPr>
          <p:cNvPr id="20" name="Shape 20"/>
          <p:cNvSpPr/>
          <p:nvPr/>
        </p:nvSpPr>
        <p:spPr>
          <a:xfrm>
            <a:off x="10721340" y="5722620"/>
            <a:ext cx="137160" cy="30480"/>
          </a:xfrm>
          <a:prstGeom prst="rect">
            <a:avLst/>
          </a:prstGeom>
          <a:solidFill>
            <a:srgbClr val="171E31"/>
          </a:solidFill>
          <a:ln>
            <a:noFill/>
          </a:ln>
        </p:spPr>
      </p:sp>
      <p:sp>
        <p:nvSpPr>
          <p:cNvPr id="21" name="Shape 21"/>
          <p:cNvSpPr/>
          <p:nvPr/>
        </p:nvSpPr>
        <p:spPr>
          <a:xfrm>
            <a:off x="11216640" y="5722620"/>
            <a:ext cx="137160" cy="30480"/>
          </a:xfrm>
          <a:prstGeom prst="rect">
            <a:avLst/>
          </a:prstGeom>
          <a:solidFill>
            <a:srgbClr val="171E31"/>
          </a:solidFill>
          <a:ln>
            <a:noFill/>
          </a:ln>
        </p:spPr>
      </p:sp>
      <p:pic>
        <p:nvPicPr>
          <p:cNvPr id="22" name="figma-characters/enemy.png" descr="Grafika odzyskana z Feedback mockup.make; statyczny kadr makiety."/>
          <p:cNvPicPr>
            <a:picLocks noChangeAspect="1"/>
          </p:cNvPicPr>
          <p:nvPr/>
        </p:nvPicPr>
        <p:blipFill>
          <a:blip r:embed="img1"/>
          <a:stretch>
            <a:fillRect/>
          </a:stretch>
        </p:blipFill>
        <p:spPr>
          <a:xfrm>
            <a:off x="10283952" y="4434840"/>
            <a:ext cx="1086307" cy="1267358"/>
          </a:xfrm>
          <a:prstGeom prst="rect">
            <a:avLst/>
          </a:prstGeom>
        </p:spPr>
      </p:pic>
      <p:pic>
        <p:nvPicPr>
          <p:cNvPr id="23" name="figma-characters/player-parry.png" descr="Grafika odzyskana z Feedback mockup.make; statyczny kadr makiety."/>
          <p:cNvPicPr>
            <a:picLocks noChangeAspect="1"/>
          </p:cNvPicPr>
          <p:nvPr/>
        </p:nvPicPr>
        <p:blipFill>
          <a:blip r:embed="img2"/>
          <a:stretch>
            <a:fillRect/>
          </a:stretch>
        </p:blipFill>
        <p:spPr>
          <a:xfrm>
            <a:off x="8262068" y="4228769"/>
            <a:ext cx="1812897" cy="1611464"/>
          </a:xfrm>
          <a:prstGeom prst="rect">
            <a:avLst/>
          </a:prstGeom>
        </p:spPr>
      </p:pic>
      <p:cxnSp>
        <p:nvCxnSpPr>
          <p:cNvPr id="24" name="Line 24"/>
          <p:cNvCxnSpPr/>
          <p:nvPr/>
        </p:nvCxnSpPr>
        <p:spPr>
          <a:xfrm flipH="1">
            <a:off x="9875520" y="5090160"/>
            <a:ext cx="441960" cy="0"/>
          </a:xfrm>
          <a:prstGeom prst="line">
            <a:avLst/>
          </a:prstGeom>
          <a:ln w="45720" cap="rnd">
            <a:solidFill>
              <a:srgbClr val="FFB477"/>
            </a:solidFill>
            <a:tailEnd type="triangle" w="med" len="med"/>
          </a:ln>
        </p:spPr>
      </p:cxnSp>
      <p:sp>
        <p:nvSpPr>
          <p:cNvPr id="25" name="Shape 25"/>
          <p:cNvSpPr/>
          <p:nvPr/>
        </p:nvSpPr>
        <p:spPr>
          <a:xfrm>
            <a:off x="9776460" y="4991100"/>
            <a:ext cx="190500" cy="190500"/>
          </a:xfrm>
          <a:prstGeom prst="ellipse">
            <a:avLst/>
          </a:prstGeom>
          <a:solidFill>
            <a:srgbClr val="FFB477"/>
          </a:solidFill>
          <a:ln>
            <a:noFill/>
          </a:ln>
        </p:spPr>
      </p:sp>
      <p:cxnSp>
        <p:nvCxnSpPr>
          <p:cNvPr id="26" name="Line 26"/>
          <p:cNvCxnSpPr/>
          <p:nvPr/>
        </p:nvCxnSpPr>
        <p:spPr>
          <a:xfrm flipH="1" flipV="1">
            <a:off x="7917180" y="3695700"/>
            <a:ext cx="1112520" cy="678180"/>
          </a:xfrm>
          <a:prstGeom prst="line">
            <a:avLst/>
          </a:prstGeom>
          <a:ln w="45720" cap="rnd">
            <a:solidFill>
              <a:srgbClr val="73E2CE"/>
            </a:solidFill>
            <a:tailEnd type="triangle" w="med" len="med"/>
          </a:ln>
        </p:spPr>
      </p:cxnSp>
      <p:cxnSp>
        <p:nvCxnSpPr>
          <p:cNvPr id="27" name="Line 27"/>
          <p:cNvCxnSpPr/>
          <p:nvPr/>
        </p:nvCxnSpPr>
        <p:spPr>
          <a:xfrm flipV="1">
            <a:off x="9407434" y="4277867"/>
            <a:ext cx="48305" cy="103591"/>
          </a:xfrm>
          <a:prstGeom prst="line">
            <a:avLst/>
          </a:prstGeom>
          <a:ln w="22860" cap="rnd">
            <a:solidFill>
              <a:srgbClr val="73E2CE"/>
            </a:solidFill>
          </a:ln>
        </p:spPr>
      </p:cxnSp>
      <p:cxnSp>
        <p:nvCxnSpPr>
          <p:cNvPr id="28" name="Line 28"/>
          <p:cNvCxnSpPr/>
          <p:nvPr/>
        </p:nvCxnSpPr>
        <p:spPr>
          <a:xfrm flipV="1">
            <a:off x="9731795" y="4621530"/>
            <a:ext cx="98987" cy="57150"/>
          </a:xfrm>
          <a:prstGeom prst="line">
            <a:avLst/>
          </a:prstGeom>
          <a:ln w="22860" cap="rnd">
            <a:solidFill>
              <a:srgbClr val="73E2CE"/>
            </a:solidFill>
          </a:ln>
        </p:spPr>
      </p:cxnSp>
      <p:cxnSp>
        <p:nvCxnSpPr>
          <p:cNvPr id="29" name="Line 29"/>
          <p:cNvCxnSpPr/>
          <p:nvPr/>
        </p:nvCxnSpPr>
        <p:spPr>
          <a:xfrm>
            <a:off x="9827016" y="5108196"/>
            <a:ext cx="113865" cy="9962"/>
          </a:xfrm>
          <a:prstGeom prst="line">
            <a:avLst/>
          </a:prstGeom>
          <a:ln w="22860" cap="rnd">
            <a:solidFill>
              <a:srgbClr val="73E2CE"/>
            </a:solidFill>
          </a:ln>
        </p:spPr>
      </p:cxnSp>
      <p:cxnSp>
        <p:nvCxnSpPr>
          <p:cNvPr id="30" name="Line 30"/>
          <p:cNvCxnSpPr/>
          <p:nvPr/>
        </p:nvCxnSpPr>
        <p:spPr>
          <a:xfrm>
            <a:off x="9658657" y="5514652"/>
            <a:ext cx="87559" cy="73471"/>
          </a:xfrm>
          <a:prstGeom prst="line">
            <a:avLst/>
          </a:prstGeom>
          <a:ln w="22860" cap="rnd">
            <a:solidFill>
              <a:srgbClr val="73E2CE"/>
            </a:solidFill>
          </a:ln>
        </p:spPr>
      </p:cxnSp>
      <p:cxnSp>
        <p:nvCxnSpPr>
          <p:cNvPr id="31" name="Line 31"/>
          <p:cNvCxnSpPr/>
          <p:nvPr/>
        </p:nvCxnSpPr>
        <p:spPr>
          <a:xfrm>
            <a:off x="9287611" y="5751034"/>
            <a:ext cx="29583" cy="110405"/>
          </a:xfrm>
          <a:prstGeom prst="line">
            <a:avLst/>
          </a:prstGeom>
          <a:ln w="22860" cap="rnd">
            <a:solidFill>
              <a:srgbClr val="73E2CE"/>
            </a:solidFill>
          </a:ln>
        </p:spPr>
      </p:cxnSp>
      <p:cxnSp>
        <p:nvCxnSpPr>
          <p:cNvPr id="32" name="Line 32"/>
          <p:cNvCxnSpPr/>
          <p:nvPr/>
        </p:nvCxnSpPr>
        <p:spPr>
          <a:xfrm flipH="1">
            <a:off x="8808993" y="5731844"/>
            <a:ext cx="39093" cy="107407"/>
          </a:xfrm>
          <a:prstGeom prst="line">
            <a:avLst/>
          </a:prstGeom>
          <a:ln w="22860" cap="rnd">
            <a:solidFill>
              <a:srgbClr val="73E2CE"/>
            </a:solidFill>
          </a:ln>
        </p:spPr>
      </p:cxnSp>
      <p:cxnSp>
        <p:nvCxnSpPr>
          <p:cNvPr id="33" name="Line 33"/>
          <p:cNvCxnSpPr/>
          <p:nvPr/>
        </p:nvCxnSpPr>
        <p:spPr>
          <a:xfrm flipH="1">
            <a:off x="8405425" y="5464023"/>
            <a:ext cx="93629" cy="65560"/>
          </a:xfrm>
          <a:prstGeom prst="line">
            <a:avLst/>
          </a:prstGeom>
          <a:ln w="22860" cap="rnd">
            <a:solidFill>
              <a:srgbClr val="73E2CE"/>
            </a:solidFill>
          </a:ln>
        </p:spPr>
      </p:cxnSp>
      <p:cxnSp>
        <p:nvCxnSpPr>
          <p:cNvPr id="34" name="Line 34"/>
          <p:cNvCxnSpPr/>
          <p:nvPr/>
        </p:nvCxnSpPr>
        <p:spPr>
          <a:xfrm flipH="1">
            <a:off x="8252460" y="5044440"/>
            <a:ext cx="114300" cy="0"/>
          </a:xfrm>
          <a:prstGeom prst="line">
            <a:avLst/>
          </a:prstGeom>
          <a:ln w="22860" cap="rnd">
            <a:solidFill>
              <a:srgbClr val="73E2CE"/>
            </a:solidFill>
          </a:ln>
        </p:spPr>
      </p:cxnSp>
      <p:cxnSp>
        <p:nvCxnSpPr>
          <p:cNvPr id="35" name="Line 35"/>
          <p:cNvCxnSpPr/>
          <p:nvPr/>
        </p:nvCxnSpPr>
        <p:spPr>
          <a:xfrm flipH="1" flipV="1">
            <a:off x="8405425" y="4559298"/>
            <a:ext cx="93629" cy="65560"/>
          </a:xfrm>
          <a:prstGeom prst="line">
            <a:avLst/>
          </a:prstGeom>
          <a:ln w="22860" cap="rnd">
            <a:solidFill>
              <a:srgbClr val="73E2CE"/>
            </a:solidFill>
          </a:ln>
        </p:spPr>
      </p:cxnSp>
    </p:spTree>
  </p:cSld>
  <p:clrMapOvr>
    <a:masterClrMapping/>
  </p:clrMapOvr>
</p:sld>
</file>

<file path=ppt/theme/theme1.xml><?xml version="1.0" encoding="utf-8"?>
<a:theme xmlns:a="http://schemas.openxmlformats.org/drawingml/2006/main" name="Feedback">
  <a:themeElements>
    <a:clrScheme name="Feedback">
      <a:dk1>
        <a:srgbClr val="0D1120"/>
      </a:dk1>
      <a:lt1>
        <a:srgbClr val="F1F4FC"/>
      </a:lt1>
      <a:dk2>
        <a:srgbClr val="171E31"/>
      </a:dk2>
      <a:lt2>
        <a:srgbClr val="9FADC5"/>
      </a:lt2>
      <a:accent1>
        <a:srgbClr val="73E2CE"/>
      </a:accent1>
      <a:accent2>
        <a:srgbClr val="A79AFF"/>
      </a:accent2>
      <a:accent3>
        <a:srgbClr val="FFB477"/>
      </a:accent3>
      <a:accent4>
        <a:srgbClr val="EC809B"/>
      </a:accent4>
      <a:accent5>
        <a:srgbClr val="253149"/>
      </a:accent5>
      <a:accent6>
        <a:srgbClr val="9FADC5"/>
      </a:accent6>
      <a:hlink>
        <a:srgbClr val="73E2CE"/>
      </a:hlink>
      <a:folHlink>
        <a:srgbClr val="A79AFF"/>
      </a:folHlink>
    </a:clrScheme>
    <a:fontScheme name="Lato">
      <a:majorFont>
        <a:latin typeface="Lato"/>
        <a:ea typeface=""/>
        <a:cs typeface=""/>
      </a:majorFont>
      <a:minorFont>
        <a:latin typeface="Lato"/>
        <a:ea typeface=""/>
        <a:cs typeface=""/>
      </a:minorFont>
    </a:fontScheme>
    <a:fmtScheme name="Feedback">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